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13" r:id="rId1"/>
  </p:sldMasterIdLst>
  <p:sldIdLst>
    <p:sldId id="256" r:id="rId2"/>
    <p:sldId id="277" r:id="rId3"/>
    <p:sldId id="257" r:id="rId4"/>
    <p:sldId id="279" r:id="rId5"/>
    <p:sldId id="278" r:id="rId6"/>
    <p:sldId id="258" r:id="rId7"/>
    <p:sldId id="260" r:id="rId8"/>
    <p:sldId id="262" r:id="rId9"/>
    <p:sldId id="263" r:id="rId10"/>
    <p:sldId id="264" r:id="rId11"/>
    <p:sldId id="265" r:id="rId12"/>
    <p:sldId id="266" r:id="rId13"/>
    <p:sldId id="267" r:id="rId14"/>
    <p:sldId id="280" r:id="rId15"/>
    <p:sldId id="268" r:id="rId16"/>
    <p:sldId id="269" r:id="rId17"/>
    <p:sldId id="270" r:id="rId18"/>
    <p:sldId id="271" r:id="rId19"/>
    <p:sldId id="285" r:id="rId20"/>
    <p:sldId id="286" r:id="rId21"/>
    <p:sldId id="276" r:id="rId22"/>
    <p:sldId id="282" r:id="rId23"/>
    <p:sldId id="283" r:id="rId24"/>
    <p:sldId id="273" r:id="rId25"/>
    <p:sldId id="281" r:id="rId26"/>
    <p:sldId id="284" r:id="rId27"/>
    <p:sldId id="274" r:id="rId28"/>
  </p:sldIdLst>
  <p:sldSz cx="18288000" cy="10287000"/>
  <p:notesSz cx="6858000" cy="9144000"/>
  <p:embeddedFontLst>
    <p:embeddedFont>
      <p:font typeface="Canva Sans" panose="020B0604020202020204" charset="0"/>
      <p:regular r:id="rId29"/>
    </p:embeddedFont>
    <p:embeddedFont>
      <p:font typeface="Canva Sans Bold" panose="020B0604020202020204" charset="0"/>
      <p:regular r:id="rId30"/>
    </p:embeddedFont>
    <p:embeddedFont>
      <p:font typeface="Open Sans" panose="020B0606030504020204" pitchFamily="34" charset="0"/>
      <p:regular r:id="rId31"/>
      <p:bold r:id="rId32"/>
      <p:italic r:id="rId33"/>
      <p:boldItalic r:id="rId34"/>
    </p:embeddedFont>
    <p:embeddedFont>
      <p:font typeface="Open Sans Bold" panose="020B0806030504020204" charset="0"/>
      <p:regular r:id="rId35"/>
    </p:embeddedFont>
    <p:embeddedFont>
      <p:font typeface="Segoe UI" panose="020B0502040204020203" pitchFamily="34" charset="0"/>
      <p:regular r:id="rId36"/>
      <p:bold r:id="rId37"/>
      <p:italic r:id="rId38"/>
      <p:boldItalic r:id="rId39"/>
    </p:embeddedFont>
    <p:embeddedFont>
      <p:font typeface="Times New Roman Bold" panose="02020803070505020304" pitchFamily="18" charset="0"/>
      <p:regular r:id="rId40"/>
      <p:bold r:id="rId41"/>
    </p:embeddedFont>
    <p:embeddedFont>
      <p:font typeface="Trebuchet MS" panose="020B0603020202020204" pitchFamily="34" charset="0"/>
      <p:regular r:id="rId42"/>
      <p:bold r:id="rId43"/>
      <p:italic r:id="rId44"/>
      <p:boldItalic r:id="rId45"/>
    </p:embeddedFont>
    <p:embeddedFont>
      <p:font typeface="Ubuntu Bold" panose="020B0604020202020204" charset="0"/>
      <p:regular r:id="rId46"/>
    </p:embeddedFont>
    <p:embeddedFont>
      <p:font typeface="Wingdings 3" panose="05040102010807070707" pitchFamily="18" charset="2"/>
      <p:regular r:id="rId4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8.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2260601" y="3606801"/>
            <a:ext cx="11650404" cy="2469453"/>
          </a:xfrm>
        </p:spPr>
        <p:txBody>
          <a:bodyPr anchor="b">
            <a:noAutofit/>
          </a:bodyPr>
          <a:lstStyle>
            <a:lvl1pPr algn="r">
              <a:defRPr sz="81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260601" y="6076250"/>
            <a:ext cx="11650404" cy="1645349"/>
          </a:xfrm>
        </p:spPr>
        <p:txBody>
          <a:bodyPr anchor="t"/>
          <a:lstStyle>
            <a:lvl1pPr marL="0" indent="0" algn="r">
              <a:buNone/>
              <a:defRPr>
                <a:solidFill>
                  <a:schemeClr val="tx1">
                    <a:lumMod val="50000"/>
                    <a:lumOff val="5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21355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96848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6003" y="4051301"/>
            <a:ext cx="12895002" cy="2739872"/>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1290600"/>
          </a:xfrm>
        </p:spPr>
        <p:txBody>
          <a:bodyPr anchor="t"/>
          <a:lstStyle>
            <a:lvl1pPr marL="0" indent="0" algn="l">
              <a:buNone/>
              <a:defRPr sz="30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85917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6002" y="3240884"/>
            <a:ext cx="6276053" cy="5821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34955" y="3240884"/>
            <a:ext cx="6276051" cy="5821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42002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3618" y="3241475"/>
            <a:ext cx="6278435"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013618" y="4105868"/>
            <a:ext cx="6278435"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32575" y="3241475"/>
            <a:ext cx="6278427"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7632577" y="4105868"/>
            <a:ext cx="6278426"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54683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16001" y="914400"/>
            <a:ext cx="12895002" cy="19812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05012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43455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1" y="2247906"/>
            <a:ext cx="5781792" cy="1917699"/>
          </a:xfrm>
        </p:spPr>
        <p:txBody>
          <a:bodyPr anchor="b">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7140692" y="772387"/>
            <a:ext cx="6770312" cy="82896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16001" y="4165604"/>
            <a:ext cx="5781792" cy="3876674"/>
          </a:xfrm>
        </p:spPr>
        <p:txBody>
          <a:bodyPr>
            <a:normAutofit/>
          </a:bodyPr>
          <a:lstStyle>
            <a:lvl1pPr marL="0" indent="0">
              <a:buNone/>
              <a:defRPr sz="2100"/>
            </a:lvl1pPr>
            <a:lvl2pPr marL="685595" indent="0">
              <a:buNone/>
              <a:defRPr sz="2100"/>
            </a:lvl2pPr>
            <a:lvl3pPr marL="1371189" indent="0">
              <a:buNone/>
              <a:defRPr sz="1800"/>
            </a:lvl3pPr>
            <a:lvl4pPr marL="2056784" indent="0">
              <a:buNone/>
              <a:defRPr sz="1500"/>
            </a:lvl4pPr>
            <a:lvl5pPr marL="2742377" indent="0">
              <a:buNone/>
              <a:defRPr sz="1500"/>
            </a:lvl5pPr>
            <a:lvl6pPr marL="3427971" indent="0">
              <a:buNone/>
              <a:defRPr sz="1500"/>
            </a:lvl6pPr>
            <a:lvl7pPr marL="4113566" indent="0">
              <a:buNone/>
              <a:defRPr sz="1500"/>
            </a:lvl7pPr>
            <a:lvl8pPr marL="4799160" indent="0">
              <a:buNone/>
              <a:defRPr sz="1500"/>
            </a:lvl8pPr>
            <a:lvl9pPr marL="5484755"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31979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2" y="7200900"/>
            <a:ext cx="12895001"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16001" y="914400"/>
            <a:ext cx="12895002" cy="5768577"/>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16002" y="8051007"/>
            <a:ext cx="12895001" cy="1011036"/>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9996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3" y="914400"/>
            <a:ext cx="12895002" cy="5105400"/>
          </a:xfrm>
        </p:spPr>
        <p:txBody>
          <a:bodyPr anchor="ctr">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24179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2049209" y="5448300"/>
            <a:ext cx="10836786"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0" name="TextBox 19"/>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latin typeface="Arial"/>
              </a:rPr>
              <a:t>”</a:t>
            </a:r>
            <a:endParaRPr lang="en-US" sz="2700" dirty="0">
              <a:solidFill>
                <a:schemeClr val="accent1">
                  <a:lumMod val="60000"/>
                  <a:lumOff val="40000"/>
                </a:schemeClr>
              </a:solidFill>
              <a:latin typeface="Arial"/>
            </a:endParaRPr>
          </a:p>
        </p:txBody>
      </p:sp>
    </p:spTree>
    <p:extLst>
      <p:ext uri="{BB962C8B-B14F-4D97-AF65-F5344CB8AC3E}">
        <p14:creationId xmlns:p14="http://schemas.microsoft.com/office/powerpoint/2010/main" val="18660911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016003" y="2897982"/>
            <a:ext cx="12895002" cy="3893190"/>
          </a:xfrm>
        </p:spPr>
        <p:txBody>
          <a:bodyPr anchor="b">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177804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tx1">
                    <a:lumMod val="75000"/>
                    <a:lumOff val="25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89683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028699" y="914400"/>
            <a:ext cx="12882305"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389853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68840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951510" y="914399"/>
            <a:ext cx="1957115" cy="787717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016003" y="914400"/>
            <a:ext cx="10590225" cy="787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4718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016001" y="914400"/>
            <a:ext cx="12895002" cy="19812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16001" y="3240884"/>
            <a:ext cx="12895002" cy="5821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807700" y="9062044"/>
            <a:ext cx="1367909" cy="547688"/>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pPr/>
              <a:t>10/17/2025</a:t>
            </a:fld>
            <a:endParaRPr lang="en-US"/>
          </a:p>
        </p:txBody>
      </p:sp>
      <p:sp>
        <p:nvSpPr>
          <p:cNvPr id="5" name="Footer Placeholder 4"/>
          <p:cNvSpPr>
            <a:spLocks noGrp="1"/>
          </p:cNvSpPr>
          <p:nvPr>
            <p:ph type="ftr" sz="quarter" idx="3"/>
          </p:nvPr>
        </p:nvSpPr>
        <p:spPr>
          <a:xfrm>
            <a:off x="1016001" y="9062044"/>
            <a:ext cx="9446418"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885995" y="9062044"/>
            <a:ext cx="1025009" cy="547688"/>
          </a:xfrm>
          <a:prstGeom prst="rect">
            <a:avLst/>
          </a:prstGeom>
        </p:spPr>
        <p:txBody>
          <a:bodyPr vert="horz" lIns="91440" tIns="45720" rIns="91440" bIns="45720" rtlCol="0" anchor="ctr"/>
          <a:lstStyle>
            <a:lvl1pPr algn="r">
              <a:defRPr sz="135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81659252"/>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6858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454210" y="4152501"/>
            <a:ext cx="13253486" cy="2539157"/>
          </a:xfrm>
          <a:prstGeom prst="rect">
            <a:avLst/>
          </a:prstGeom>
        </p:spPr>
        <p:txBody>
          <a:bodyPr lIns="0" tIns="0" rIns="0" bIns="0" rtlCol="0" anchor="t">
            <a:spAutoFit/>
          </a:bodyPr>
          <a:lstStyle/>
          <a:p>
            <a:pPr algn="l">
              <a:lnSpc>
                <a:spcPts val="9900"/>
              </a:lnSpc>
            </a:pPr>
            <a:r>
              <a:rPr lang="en-US" sz="9000" b="1" dirty="0">
                <a:solidFill>
                  <a:srgbClr val="034383"/>
                </a:solidFill>
                <a:latin typeface="Ubuntu Bold"/>
                <a:ea typeface="Ubuntu Bold"/>
                <a:cs typeface="Ubuntu Bold"/>
                <a:sym typeface="Ubuntu Bold"/>
              </a:rPr>
              <a:t>ACCIDENT HOTSPOT   ANALYSIS </a:t>
            </a:r>
          </a:p>
        </p:txBody>
      </p:sp>
      <p:grpSp>
        <p:nvGrpSpPr>
          <p:cNvPr id="5" name="Group 5"/>
          <p:cNvGrpSpPr/>
          <p:nvPr/>
        </p:nvGrpSpPr>
        <p:grpSpPr>
          <a:xfrm>
            <a:off x="4495800" y="198431"/>
            <a:ext cx="8035014" cy="1590663"/>
            <a:chOff x="0" y="0"/>
            <a:chExt cx="10713352" cy="2120884"/>
          </a:xfrm>
        </p:grpSpPr>
        <p:sp>
          <p:nvSpPr>
            <p:cNvPr id="6" name="Freeform 6"/>
            <p:cNvSpPr/>
            <p:nvPr/>
          </p:nvSpPr>
          <p:spPr>
            <a:xfrm>
              <a:off x="0" y="0"/>
              <a:ext cx="9122527" cy="1523198"/>
            </a:xfrm>
            <a:custGeom>
              <a:avLst/>
              <a:gdLst/>
              <a:ahLst/>
              <a:cxnLst/>
              <a:rect l="l" t="t" r="r" b="b"/>
              <a:pathLst>
                <a:path w="9122527" h="1523198">
                  <a:moveTo>
                    <a:pt x="0" y="0"/>
                  </a:moveTo>
                  <a:lnTo>
                    <a:pt x="9122527" y="0"/>
                  </a:lnTo>
                  <a:lnTo>
                    <a:pt x="9122527" y="1523198"/>
                  </a:lnTo>
                  <a:lnTo>
                    <a:pt x="0" y="1523198"/>
                  </a:lnTo>
                  <a:lnTo>
                    <a:pt x="0" y="0"/>
                  </a:lnTo>
                  <a:close/>
                </a:path>
              </a:pathLst>
            </a:custGeom>
            <a:blipFill>
              <a:blip r:embed="rId2"/>
              <a:stretch>
                <a:fillRect t="-907" b="-907"/>
              </a:stretch>
            </a:blipFill>
          </p:spPr>
        </p:sp>
        <p:sp>
          <p:nvSpPr>
            <p:cNvPr id="7" name="TextBox 7"/>
            <p:cNvSpPr txBox="1"/>
            <p:nvPr/>
          </p:nvSpPr>
          <p:spPr>
            <a:xfrm>
              <a:off x="90513" y="1454135"/>
              <a:ext cx="10622839" cy="666749"/>
            </a:xfrm>
            <a:prstGeom prst="rect">
              <a:avLst/>
            </a:prstGeom>
          </p:spPr>
          <p:txBody>
            <a:bodyPr lIns="0" tIns="0" rIns="0" bIns="0" rtlCol="0" anchor="t">
              <a:spAutoFit/>
            </a:bodyPr>
            <a:lstStyle/>
            <a:p>
              <a:pPr algn="l">
                <a:lnSpc>
                  <a:spcPts val="4200"/>
                </a:lnSpc>
              </a:pPr>
              <a:r>
                <a:rPr lang="en-US" sz="3000" b="1">
                  <a:solidFill>
                    <a:srgbClr val="0D1D29"/>
                  </a:solidFill>
                  <a:latin typeface="Open Sans Bold"/>
                  <a:ea typeface="Open Sans Bold"/>
                  <a:cs typeface="Open Sans Bold"/>
                  <a:sym typeface="Open Sans Bold"/>
                </a:rPr>
                <a:t>Master’s of Computer Applications</a:t>
              </a:r>
            </a:p>
          </p:txBody>
        </p:sp>
      </p:grpSp>
      <p:sp>
        <p:nvSpPr>
          <p:cNvPr id="8" name="TextBox 8"/>
          <p:cNvSpPr txBox="1"/>
          <p:nvPr/>
        </p:nvSpPr>
        <p:spPr>
          <a:xfrm>
            <a:off x="3124200" y="2274682"/>
            <a:ext cx="8958668" cy="596900"/>
          </a:xfrm>
          <a:prstGeom prst="rect">
            <a:avLst/>
          </a:prstGeom>
        </p:spPr>
        <p:txBody>
          <a:bodyPr lIns="0" tIns="0" rIns="0" bIns="0" rtlCol="0" anchor="t">
            <a:spAutoFit/>
          </a:bodyPr>
          <a:lstStyle/>
          <a:p>
            <a:pPr algn="ctr">
              <a:lnSpc>
                <a:spcPts val="4900"/>
              </a:lnSpc>
            </a:pPr>
            <a:r>
              <a:rPr lang="en-US" sz="3500" dirty="0">
                <a:solidFill>
                  <a:srgbClr val="4294CE"/>
                </a:solidFill>
                <a:latin typeface="Open Sans"/>
                <a:ea typeface="Open Sans"/>
                <a:cs typeface="Open Sans"/>
                <a:sym typeface="Open Sans"/>
              </a:rPr>
              <a:t>Project on</a:t>
            </a:r>
          </a:p>
        </p:txBody>
      </p:sp>
      <p:sp>
        <p:nvSpPr>
          <p:cNvPr id="9" name="TextBox 9"/>
          <p:cNvSpPr txBox="1"/>
          <p:nvPr/>
        </p:nvSpPr>
        <p:spPr>
          <a:xfrm>
            <a:off x="5499881" y="7680076"/>
            <a:ext cx="7594759" cy="503279"/>
          </a:xfrm>
          <a:prstGeom prst="rect">
            <a:avLst/>
          </a:prstGeom>
        </p:spPr>
        <p:txBody>
          <a:bodyPr lIns="0" tIns="0" rIns="0" bIns="0" rtlCol="0" anchor="t">
            <a:spAutoFit/>
          </a:bodyPr>
          <a:lstStyle/>
          <a:p>
            <a:pPr algn="ctr">
              <a:lnSpc>
                <a:spcPts val="4200"/>
              </a:lnSpc>
            </a:pPr>
            <a:r>
              <a:rPr lang="en-US" sz="3000" b="1" dirty="0">
                <a:solidFill>
                  <a:srgbClr val="4294CE"/>
                </a:solidFill>
                <a:latin typeface="Canva Sans Bold"/>
                <a:ea typeface="Canva Sans Bold"/>
                <a:cs typeface="Canva Sans Bold"/>
                <a:sym typeface="Canva Sans Bold"/>
              </a:rPr>
              <a:t>Uzma Athar Shaikh - (01FE23MCA059)</a:t>
            </a:r>
          </a:p>
        </p:txBody>
      </p:sp>
      <p:sp>
        <p:nvSpPr>
          <p:cNvPr id="10" name="TextBox 10"/>
          <p:cNvSpPr txBox="1"/>
          <p:nvPr/>
        </p:nvSpPr>
        <p:spPr>
          <a:xfrm>
            <a:off x="5499881" y="6909834"/>
            <a:ext cx="7459504" cy="514350"/>
          </a:xfrm>
          <a:prstGeom prst="rect">
            <a:avLst/>
          </a:prstGeom>
        </p:spPr>
        <p:txBody>
          <a:bodyPr lIns="0" tIns="0" rIns="0" bIns="0" rtlCol="0" anchor="t">
            <a:spAutoFit/>
          </a:bodyPr>
          <a:lstStyle/>
          <a:p>
            <a:pPr algn="ctr">
              <a:lnSpc>
                <a:spcPts val="4200"/>
              </a:lnSpc>
            </a:pPr>
            <a:r>
              <a:rPr lang="en-US" sz="3000">
                <a:solidFill>
                  <a:srgbClr val="4294CE"/>
                </a:solidFill>
                <a:latin typeface="Canva Sans"/>
                <a:ea typeface="Canva Sans"/>
                <a:cs typeface="Canva Sans"/>
                <a:sym typeface="Canva Sans"/>
              </a:rPr>
              <a:t>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24;p27">
            <a:extLst>
              <a:ext uri="{FF2B5EF4-FFF2-40B4-BE49-F238E27FC236}">
                <a16:creationId xmlns:a16="http://schemas.microsoft.com/office/drawing/2014/main" id="{B4A7F5C6-E584-036B-2DCD-3E1720B23556}"/>
              </a:ext>
            </a:extLst>
          </p:cNvPr>
          <p:cNvSpPr txBox="1">
            <a:spLocks noGrp="1"/>
          </p:cNvSpPr>
          <p:nvPr>
            <p:ph type="ctrTitle"/>
          </p:nvPr>
        </p:nvSpPr>
        <p:spPr>
          <a:xfrm>
            <a:off x="838200" y="419100"/>
            <a:ext cx="16840200" cy="147002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6600" b="1" i="0" u="none" strike="noStrike" cap="none" dirty="0">
                <a:solidFill>
                  <a:schemeClr val="tx2"/>
                </a:solidFill>
                <a:latin typeface="Times New Roman"/>
                <a:ea typeface="Times New Roman"/>
                <a:cs typeface="Times New Roman"/>
                <a:sym typeface="Times New Roman"/>
              </a:rPr>
              <a:t>STRUCTURE OF PRESENTATION</a:t>
            </a:r>
            <a:endParaRPr sz="6600" b="1" i="0" u="none" strike="noStrike" cap="none" dirty="0">
              <a:solidFill>
                <a:schemeClr val="tx2"/>
              </a:solidFill>
              <a:latin typeface="Times New Roman"/>
              <a:ea typeface="Times New Roman"/>
              <a:cs typeface="Times New Roman"/>
              <a:sym typeface="Times New Roman"/>
            </a:endParaRPr>
          </a:p>
        </p:txBody>
      </p:sp>
      <p:sp>
        <p:nvSpPr>
          <p:cNvPr id="3" name="Subtitle 2">
            <a:extLst>
              <a:ext uri="{FF2B5EF4-FFF2-40B4-BE49-F238E27FC236}">
                <a16:creationId xmlns:a16="http://schemas.microsoft.com/office/drawing/2014/main" id="{13D00275-E64A-B5DC-1B36-5E10F8D15C0E}"/>
              </a:ext>
            </a:extLst>
          </p:cNvPr>
          <p:cNvSpPr>
            <a:spLocks noGrp="1"/>
          </p:cNvSpPr>
          <p:nvPr>
            <p:ph type="subTitle" idx="1"/>
          </p:nvPr>
        </p:nvSpPr>
        <p:spPr>
          <a:xfrm>
            <a:off x="1447800" y="2171700"/>
            <a:ext cx="10210800" cy="5676900"/>
          </a:xfrm>
        </p:spPr>
        <p:txBody>
          <a:bodyPr>
            <a:normAutofit fontScale="92500" lnSpcReduction="10000"/>
          </a:bodyPr>
          <a:lstStyle/>
          <a:p>
            <a:pPr marL="457200" lvl="0" indent="-368300" algn="l">
              <a:lnSpc>
                <a:spcPct val="115000"/>
              </a:lnSpc>
              <a:spcBef>
                <a:spcPts val="1000"/>
              </a:spcBef>
              <a:buClr>
                <a:srgbClr val="000000"/>
              </a:buClr>
              <a:buSzPts val="2200"/>
              <a:buFont typeface="Times New Roman"/>
              <a:buAutoNum type="arabicPeriod"/>
            </a:pPr>
            <a:r>
              <a:rPr lang="en-US" sz="3200" b="1" dirty="0">
                <a:solidFill>
                  <a:srgbClr val="000000"/>
                </a:solidFill>
                <a:latin typeface="Times New Roman"/>
                <a:ea typeface="Times New Roman"/>
                <a:cs typeface="Times New Roman"/>
                <a:sym typeface="Times New Roman"/>
              </a:rPr>
              <a:t>Introduction</a:t>
            </a:r>
          </a:p>
          <a:p>
            <a:pPr marL="457200" lvl="0" indent="-368300" algn="l">
              <a:lnSpc>
                <a:spcPct val="115000"/>
              </a:lnSpc>
              <a:spcBef>
                <a:spcPts val="1000"/>
              </a:spcBef>
              <a:buClr>
                <a:srgbClr val="000000"/>
              </a:buClr>
              <a:buSzPts val="2200"/>
              <a:buFont typeface="Times New Roman"/>
              <a:buAutoNum type="arabicPeriod"/>
            </a:pPr>
            <a:r>
              <a:rPr lang="en-US" sz="3200" b="1" dirty="0">
                <a:solidFill>
                  <a:srgbClr val="000000"/>
                </a:solidFill>
                <a:latin typeface="Times New Roman"/>
                <a:ea typeface="Times New Roman"/>
                <a:cs typeface="Times New Roman"/>
                <a:sym typeface="Times New Roman"/>
              </a:rPr>
              <a:t>Background study</a:t>
            </a:r>
          </a:p>
          <a:p>
            <a:pPr marL="457200" lvl="0" indent="-368300" algn="l">
              <a:lnSpc>
                <a:spcPct val="115000"/>
              </a:lnSpc>
              <a:spcBef>
                <a:spcPts val="0"/>
              </a:spcBef>
              <a:buClr>
                <a:srgbClr val="000000"/>
              </a:buClr>
              <a:buSzPts val="2200"/>
              <a:buFont typeface="Times New Roman"/>
              <a:buAutoNum type="arabicPeriod"/>
            </a:pPr>
            <a:r>
              <a:rPr lang="en-US" sz="3200" b="1" dirty="0">
                <a:solidFill>
                  <a:srgbClr val="000000"/>
                </a:solidFill>
                <a:latin typeface="Times New Roman"/>
                <a:ea typeface="Times New Roman"/>
                <a:cs typeface="Times New Roman"/>
                <a:sym typeface="Times New Roman"/>
              </a:rPr>
              <a:t>Research Gap </a:t>
            </a:r>
          </a:p>
          <a:p>
            <a:pPr marL="457200" lvl="0" indent="-368300" algn="l">
              <a:lnSpc>
                <a:spcPct val="115000"/>
              </a:lnSpc>
              <a:spcBef>
                <a:spcPts val="0"/>
              </a:spcBef>
              <a:buClr>
                <a:srgbClr val="000000"/>
              </a:buClr>
              <a:buSzPts val="2200"/>
              <a:buFont typeface="Times New Roman"/>
              <a:buAutoNum type="arabicPeriod"/>
            </a:pPr>
            <a:r>
              <a:rPr lang="en-US" sz="3200" b="1" dirty="0">
                <a:solidFill>
                  <a:srgbClr val="000000"/>
                </a:solidFill>
                <a:latin typeface="Times New Roman"/>
                <a:ea typeface="Times New Roman"/>
                <a:cs typeface="Times New Roman"/>
                <a:sym typeface="Times New Roman"/>
              </a:rPr>
              <a:t>Problem Statement</a:t>
            </a:r>
          </a:p>
          <a:p>
            <a:pPr marL="457200" lvl="0" indent="-368300" algn="l">
              <a:lnSpc>
                <a:spcPct val="115000"/>
              </a:lnSpc>
              <a:spcBef>
                <a:spcPts val="0"/>
              </a:spcBef>
              <a:buClr>
                <a:srgbClr val="000000"/>
              </a:buClr>
              <a:buSzPts val="2200"/>
              <a:buFont typeface="Times New Roman"/>
              <a:buAutoNum type="arabicPeriod"/>
            </a:pPr>
            <a:r>
              <a:rPr lang="en-US" sz="3200" b="1" dirty="0">
                <a:solidFill>
                  <a:srgbClr val="000000"/>
                </a:solidFill>
                <a:latin typeface="Times New Roman"/>
                <a:ea typeface="Times New Roman"/>
                <a:cs typeface="Times New Roman"/>
                <a:sym typeface="Times New Roman"/>
              </a:rPr>
              <a:t>Objectives</a:t>
            </a:r>
          </a:p>
          <a:p>
            <a:pPr marL="457200" lvl="0" indent="-368300" algn="l">
              <a:lnSpc>
                <a:spcPct val="115000"/>
              </a:lnSpc>
              <a:spcBef>
                <a:spcPts val="0"/>
              </a:spcBef>
              <a:buClr>
                <a:srgbClr val="000000"/>
              </a:buClr>
              <a:buSzPts val="2200"/>
              <a:buFont typeface="Times New Roman"/>
              <a:buAutoNum type="arabicPeriod"/>
            </a:pPr>
            <a:r>
              <a:rPr lang="en-US" sz="3200" b="1" dirty="0">
                <a:solidFill>
                  <a:srgbClr val="000000"/>
                </a:solidFill>
                <a:latin typeface="Times New Roman"/>
                <a:ea typeface="Times New Roman"/>
                <a:cs typeface="Times New Roman"/>
                <a:sym typeface="Times New Roman"/>
              </a:rPr>
              <a:t>Technologies used  </a:t>
            </a:r>
          </a:p>
          <a:p>
            <a:pPr marL="457200" lvl="0" indent="-368300" algn="l">
              <a:lnSpc>
                <a:spcPct val="115000"/>
              </a:lnSpc>
              <a:spcBef>
                <a:spcPts val="0"/>
              </a:spcBef>
              <a:buClr>
                <a:srgbClr val="000000"/>
              </a:buClr>
              <a:buSzPts val="2200"/>
              <a:buFont typeface="Times New Roman"/>
              <a:buAutoNum type="arabicPeriod"/>
            </a:pPr>
            <a:r>
              <a:rPr lang="en-US" sz="3200" b="1" dirty="0">
                <a:solidFill>
                  <a:srgbClr val="000000"/>
                </a:solidFill>
                <a:latin typeface="Times New Roman"/>
                <a:ea typeface="Times New Roman"/>
                <a:cs typeface="Times New Roman"/>
                <a:sym typeface="Times New Roman"/>
              </a:rPr>
              <a:t>Modules</a:t>
            </a:r>
          </a:p>
          <a:p>
            <a:pPr marL="457200" lvl="0" indent="-368300" algn="l">
              <a:lnSpc>
                <a:spcPct val="115000"/>
              </a:lnSpc>
              <a:spcBef>
                <a:spcPts val="0"/>
              </a:spcBef>
              <a:buClr>
                <a:srgbClr val="000000"/>
              </a:buClr>
              <a:buSzPts val="2200"/>
              <a:buFont typeface="Times New Roman"/>
              <a:buAutoNum type="arabicPeriod"/>
            </a:pPr>
            <a:r>
              <a:rPr lang="en-US" sz="3200" b="1" dirty="0">
                <a:solidFill>
                  <a:srgbClr val="000000"/>
                </a:solidFill>
                <a:latin typeface="Times New Roman"/>
                <a:ea typeface="Times New Roman"/>
                <a:cs typeface="Times New Roman"/>
                <a:sym typeface="Times New Roman"/>
              </a:rPr>
              <a:t>Methodology</a:t>
            </a:r>
          </a:p>
          <a:p>
            <a:pPr marL="457200" lvl="0" indent="-368300" algn="l">
              <a:lnSpc>
                <a:spcPct val="115000"/>
              </a:lnSpc>
              <a:spcBef>
                <a:spcPts val="0"/>
              </a:spcBef>
              <a:buClr>
                <a:srgbClr val="000000"/>
              </a:buClr>
              <a:buSzPts val="2200"/>
              <a:buFont typeface="Times New Roman"/>
              <a:buAutoNum type="arabicPeriod"/>
            </a:pPr>
            <a:r>
              <a:rPr lang="en-US" sz="3200" b="1" dirty="0">
                <a:solidFill>
                  <a:srgbClr val="000000"/>
                </a:solidFill>
                <a:latin typeface="Times New Roman"/>
                <a:ea typeface="Times New Roman"/>
                <a:cs typeface="Times New Roman"/>
                <a:sym typeface="Times New Roman"/>
              </a:rPr>
              <a:t>Results and Discussion </a:t>
            </a:r>
          </a:p>
          <a:p>
            <a:pPr marL="457200" lvl="0" indent="-368300" algn="l">
              <a:lnSpc>
                <a:spcPct val="115000"/>
              </a:lnSpc>
              <a:spcBef>
                <a:spcPts val="0"/>
              </a:spcBef>
              <a:buClr>
                <a:srgbClr val="000000"/>
              </a:buClr>
              <a:buSzPts val="2200"/>
              <a:buFont typeface="Times New Roman"/>
              <a:buAutoNum type="arabicPeriod"/>
            </a:pPr>
            <a:r>
              <a:rPr lang="en-US" sz="3200" b="1" dirty="0">
                <a:solidFill>
                  <a:srgbClr val="000000"/>
                </a:solidFill>
                <a:latin typeface="Times New Roman"/>
                <a:ea typeface="Times New Roman"/>
                <a:cs typeface="Times New Roman"/>
                <a:sym typeface="Times New Roman"/>
              </a:rPr>
              <a:t>Conclusion and Future work </a:t>
            </a:r>
          </a:p>
          <a:p>
            <a:pPr marL="457200" lvl="0" indent="-368300" algn="l">
              <a:lnSpc>
                <a:spcPct val="115000"/>
              </a:lnSpc>
              <a:spcBef>
                <a:spcPts val="0"/>
              </a:spcBef>
              <a:buClr>
                <a:srgbClr val="000000"/>
              </a:buClr>
              <a:buSzPts val="2200"/>
              <a:buFont typeface="Times New Roman"/>
              <a:buAutoNum type="arabicPeriod"/>
            </a:pPr>
            <a:r>
              <a:rPr lang="en-US" sz="3200" b="1" dirty="0">
                <a:solidFill>
                  <a:srgbClr val="000000"/>
                </a:solidFill>
                <a:latin typeface="Times New Roman"/>
                <a:ea typeface="Times New Roman"/>
                <a:cs typeface="Times New Roman"/>
                <a:sym typeface="Times New Roman"/>
              </a:rPr>
              <a:t>References</a:t>
            </a:r>
          </a:p>
          <a:p>
            <a:endParaRPr lang="en-CA" dirty="0"/>
          </a:p>
        </p:txBody>
      </p:sp>
    </p:spTree>
    <p:extLst>
      <p:ext uri="{BB962C8B-B14F-4D97-AF65-F5344CB8AC3E}">
        <p14:creationId xmlns:p14="http://schemas.microsoft.com/office/powerpoint/2010/main" val="1185837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10800000">
            <a:off x="6938080" y="8246207"/>
            <a:ext cx="6064231" cy="1370341"/>
            <a:chOff x="0" y="0"/>
            <a:chExt cx="1597164" cy="360913"/>
          </a:xfrm>
        </p:grpSpPr>
        <p:sp>
          <p:nvSpPr>
            <p:cNvPr id="5" name="Freeform 5"/>
            <p:cNvSpPr/>
            <p:nvPr/>
          </p:nvSpPr>
          <p:spPr>
            <a:xfrm>
              <a:off x="0" y="0"/>
              <a:ext cx="1597164" cy="360913"/>
            </a:xfrm>
            <a:custGeom>
              <a:avLst/>
              <a:gdLst/>
              <a:ahLst/>
              <a:cxnLst/>
              <a:rect l="l" t="t" r="r" b="b"/>
              <a:pathLst>
                <a:path w="1597164" h="360913">
                  <a:moveTo>
                    <a:pt x="0" y="0"/>
                  </a:moveTo>
                  <a:lnTo>
                    <a:pt x="1597164" y="0"/>
                  </a:lnTo>
                  <a:lnTo>
                    <a:pt x="1597164" y="360913"/>
                  </a:lnTo>
                  <a:lnTo>
                    <a:pt x="0" y="360913"/>
                  </a:lnTo>
                  <a:close/>
                </a:path>
              </a:pathLst>
            </a:custGeom>
            <a:solidFill>
              <a:srgbClr val="FFFFFF"/>
            </a:solidFill>
          </p:spPr>
        </p:sp>
        <p:sp>
          <p:nvSpPr>
            <p:cNvPr id="6" name="TextBox 6"/>
            <p:cNvSpPr txBox="1"/>
            <p:nvPr/>
          </p:nvSpPr>
          <p:spPr>
            <a:xfrm>
              <a:off x="0" y="-38100"/>
              <a:ext cx="1597164" cy="399013"/>
            </a:xfrm>
            <a:prstGeom prst="rect">
              <a:avLst/>
            </a:prstGeom>
          </p:spPr>
          <p:txBody>
            <a:bodyPr lIns="50800" tIns="50800" rIns="50800" bIns="50800" rtlCol="0" anchor="ctr"/>
            <a:lstStyle/>
            <a:p>
              <a:pPr algn="ctr">
                <a:lnSpc>
                  <a:spcPts val="3295"/>
                </a:lnSpc>
              </a:pPr>
              <a:endParaRPr/>
            </a:p>
          </p:txBody>
        </p:sp>
      </p:grpSp>
      <p:grpSp>
        <p:nvGrpSpPr>
          <p:cNvPr id="10" name="Group 10"/>
          <p:cNvGrpSpPr/>
          <p:nvPr/>
        </p:nvGrpSpPr>
        <p:grpSpPr>
          <a:xfrm>
            <a:off x="5285690" y="670452"/>
            <a:ext cx="6064231" cy="1370341"/>
            <a:chOff x="0" y="0"/>
            <a:chExt cx="1597164" cy="360913"/>
          </a:xfrm>
        </p:grpSpPr>
        <p:sp>
          <p:nvSpPr>
            <p:cNvPr id="11" name="Freeform 11"/>
            <p:cNvSpPr/>
            <p:nvPr/>
          </p:nvSpPr>
          <p:spPr>
            <a:xfrm>
              <a:off x="0" y="0"/>
              <a:ext cx="1597164" cy="360913"/>
            </a:xfrm>
            <a:custGeom>
              <a:avLst/>
              <a:gdLst/>
              <a:ahLst/>
              <a:cxnLst/>
              <a:rect l="l" t="t" r="r" b="b"/>
              <a:pathLst>
                <a:path w="1597164" h="360913">
                  <a:moveTo>
                    <a:pt x="0" y="0"/>
                  </a:moveTo>
                  <a:lnTo>
                    <a:pt x="1597164" y="0"/>
                  </a:lnTo>
                  <a:lnTo>
                    <a:pt x="1597164" y="360913"/>
                  </a:lnTo>
                  <a:lnTo>
                    <a:pt x="0" y="360913"/>
                  </a:lnTo>
                  <a:close/>
                </a:path>
              </a:pathLst>
            </a:custGeom>
            <a:solidFill>
              <a:srgbClr val="FFFFFF"/>
            </a:solidFill>
          </p:spPr>
        </p:sp>
        <p:sp>
          <p:nvSpPr>
            <p:cNvPr id="12" name="TextBox 12"/>
            <p:cNvSpPr txBox="1"/>
            <p:nvPr/>
          </p:nvSpPr>
          <p:spPr>
            <a:xfrm>
              <a:off x="0" y="-38100"/>
              <a:ext cx="1597164" cy="399013"/>
            </a:xfrm>
            <a:prstGeom prst="rect">
              <a:avLst/>
            </a:prstGeom>
          </p:spPr>
          <p:txBody>
            <a:bodyPr lIns="50800" tIns="50800" rIns="50800" bIns="50800" rtlCol="0" anchor="ctr"/>
            <a:lstStyle/>
            <a:p>
              <a:pPr algn="ctr">
                <a:lnSpc>
                  <a:spcPts val="3295"/>
                </a:lnSpc>
              </a:pPr>
              <a:endParaRPr/>
            </a:p>
          </p:txBody>
        </p:sp>
      </p:grpSp>
      <p:sp>
        <p:nvSpPr>
          <p:cNvPr id="17" name="TextBox 17"/>
          <p:cNvSpPr txBox="1"/>
          <p:nvPr/>
        </p:nvSpPr>
        <p:spPr>
          <a:xfrm>
            <a:off x="7831989" y="1117030"/>
            <a:ext cx="7035864" cy="949206"/>
          </a:xfrm>
          <a:prstGeom prst="rect">
            <a:avLst/>
          </a:prstGeom>
        </p:spPr>
        <p:txBody>
          <a:bodyPr lIns="0" tIns="0" rIns="0" bIns="0" rtlCol="0" anchor="t">
            <a:spAutoFit/>
          </a:bodyPr>
          <a:lstStyle/>
          <a:p>
            <a:pPr algn="l">
              <a:lnSpc>
                <a:spcPts val="7150"/>
              </a:lnSpc>
            </a:pPr>
            <a:r>
              <a:rPr lang="en-US" sz="6500" b="1">
                <a:solidFill>
                  <a:srgbClr val="034383"/>
                </a:solidFill>
                <a:latin typeface="Ubuntu Bold"/>
                <a:ea typeface="Ubuntu Bold"/>
                <a:cs typeface="Ubuntu Bold"/>
                <a:sym typeface="Ubuntu Bold"/>
              </a:rPr>
              <a:t>INTRODUCTION</a:t>
            </a:r>
          </a:p>
        </p:txBody>
      </p:sp>
      <p:sp>
        <p:nvSpPr>
          <p:cNvPr id="18" name="TextBox 18"/>
          <p:cNvSpPr txBox="1"/>
          <p:nvPr/>
        </p:nvSpPr>
        <p:spPr>
          <a:xfrm>
            <a:off x="7315200" y="2982152"/>
            <a:ext cx="8761709" cy="4017895"/>
          </a:xfrm>
          <a:prstGeom prst="rect">
            <a:avLst/>
          </a:prstGeom>
        </p:spPr>
        <p:txBody>
          <a:bodyPr wrap="square" lIns="0" tIns="0" rIns="0" bIns="0" rtlCol="0" anchor="t">
            <a:spAutoFit/>
          </a:bodyPr>
          <a:lstStyle/>
          <a:p>
            <a:pPr>
              <a:lnSpc>
                <a:spcPts val="3500"/>
              </a:lnSpc>
            </a:pPr>
            <a:r>
              <a:rPr lang="en-US" sz="2800" dirty="0"/>
              <a:t>Karnataka experiences a significant number of road accidents every year, resulting in human casualties and economic losses. This project analyzes accident data from </a:t>
            </a:r>
            <a:r>
              <a:rPr lang="en-US" sz="2800" b="1" dirty="0"/>
              <a:t>2021 to 2025</a:t>
            </a:r>
            <a:r>
              <a:rPr lang="en-US" sz="2800" dirty="0"/>
              <a:t> across various cities, road types, weather conditions, and vehicle categories. By visualizing trends, hotspots, and severity levels, the dashboard aims to provide actionable insights for improving road safety, enforcing traffic laws, and reducing accident risks.</a:t>
            </a:r>
            <a:endParaRPr lang="en-US" sz="2500" dirty="0">
              <a:solidFill>
                <a:srgbClr val="0D1D29"/>
              </a:solidFill>
              <a:latin typeface="Open Sans"/>
              <a:ea typeface="Open Sans"/>
              <a:cs typeface="Open Sans"/>
              <a:sym typeface="Open Sans"/>
            </a:endParaRPr>
          </a:p>
        </p:txBody>
      </p:sp>
      <p:sp>
        <p:nvSpPr>
          <p:cNvPr id="19" name="AutoShape 2" descr="Can a city ever be traffic jam-free?">
            <a:extLst>
              <a:ext uri="{FF2B5EF4-FFF2-40B4-BE49-F238E27FC236}">
                <a16:creationId xmlns:a16="http://schemas.microsoft.com/office/drawing/2014/main" id="{8B4D6E87-005D-9F24-B812-03A32DD51D4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20" name="Picture 19">
            <a:extLst>
              <a:ext uri="{FF2B5EF4-FFF2-40B4-BE49-F238E27FC236}">
                <a16:creationId xmlns:a16="http://schemas.microsoft.com/office/drawing/2014/main" id="{752AA129-1FDC-A784-417F-C470891E8C99}"/>
              </a:ext>
            </a:extLst>
          </p:cNvPr>
          <p:cNvPicPr>
            <a:picLocks noChangeAspect="1"/>
          </p:cNvPicPr>
          <p:nvPr/>
        </p:nvPicPr>
        <p:blipFill>
          <a:blip r:embed="rId2"/>
          <a:stretch>
            <a:fillRect/>
          </a:stretch>
        </p:blipFill>
        <p:spPr>
          <a:xfrm>
            <a:off x="533400" y="1035294"/>
            <a:ext cx="6623021" cy="71596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D0391B-EE19-7523-2E8C-7C0A77F8CE72}"/>
              </a:ext>
            </a:extLst>
          </p:cNvPr>
          <p:cNvSpPr txBox="1"/>
          <p:nvPr/>
        </p:nvSpPr>
        <p:spPr>
          <a:xfrm>
            <a:off x="1752600" y="571500"/>
            <a:ext cx="9144000" cy="1015663"/>
          </a:xfrm>
          <a:prstGeom prst="rect">
            <a:avLst/>
          </a:prstGeom>
          <a:noFill/>
        </p:spPr>
        <p:txBody>
          <a:bodyPr wrap="square">
            <a:spAutoFit/>
          </a:bodyPr>
          <a:lstStyle/>
          <a:p>
            <a:pPr marL="0" marR="0" lvl="0" indent="0" algn="l" rtl="0">
              <a:lnSpc>
                <a:spcPct val="100000"/>
              </a:lnSpc>
              <a:spcBef>
                <a:spcPts val="0"/>
              </a:spcBef>
              <a:spcAft>
                <a:spcPts val="0"/>
              </a:spcAft>
              <a:buClr>
                <a:srgbClr val="000000"/>
              </a:buClr>
              <a:buSzPts val="3000"/>
              <a:buFont typeface="Arial"/>
              <a:buNone/>
            </a:pPr>
            <a:r>
              <a:rPr lang="en-CA" sz="6000" b="1" dirty="0">
                <a:solidFill>
                  <a:schemeClr val="tx2"/>
                </a:solidFill>
                <a:latin typeface="Times New Roman"/>
                <a:ea typeface="Times New Roman"/>
                <a:cs typeface="Times New Roman"/>
                <a:sym typeface="Times New Roman"/>
              </a:rPr>
              <a:t>BACKGROUND STUDY</a:t>
            </a:r>
            <a:endParaRPr lang="en-CA" sz="6000" b="1" i="0" u="none" strike="noStrike" cap="none" dirty="0">
              <a:solidFill>
                <a:schemeClr val="tx2"/>
              </a:solidFill>
              <a:latin typeface="Times New Roman"/>
              <a:ea typeface="Times New Roman"/>
              <a:cs typeface="Times New Roman"/>
              <a:sym typeface="Times New Roman"/>
            </a:endParaRPr>
          </a:p>
        </p:txBody>
      </p:sp>
      <p:graphicFrame>
        <p:nvGraphicFramePr>
          <p:cNvPr id="5" name="Google Shape;202;p34">
            <a:extLst>
              <a:ext uri="{FF2B5EF4-FFF2-40B4-BE49-F238E27FC236}">
                <a16:creationId xmlns:a16="http://schemas.microsoft.com/office/drawing/2014/main" id="{2CC6E774-5433-51E5-9F43-B8C9708EBA6B}"/>
              </a:ext>
            </a:extLst>
          </p:cNvPr>
          <p:cNvGraphicFramePr/>
          <p:nvPr>
            <p:extLst>
              <p:ext uri="{D42A27DB-BD31-4B8C-83A1-F6EECF244321}">
                <p14:modId xmlns:p14="http://schemas.microsoft.com/office/powerpoint/2010/main" val="2593638457"/>
              </p:ext>
            </p:extLst>
          </p:nvPr>
        </p:nvGraphicFramePr>
        <p:xfrm>
          <a:off x="152400" y="1950780"/>
          <a:ext cx="15080700" cy="7472106"/>
        </p:xfrm>
        <a:graphic>
          <a:graphicData uri="http://schemas.openxmlformats.org/drawingml/2006/table">
            <a:tbl>
              <a:tblPr>
                <a:noFill/>
              </a:tblPr>
              <a:tblGrid>
                <a:gridCol w="4293051">
                  <a:extLst>
                    <a:ext uri="{9D8B030D-6E8A-4147-A177-3AD203B41FA5}">
                      <a16:colId xmlns:a16="http://schemas.microsoft.com/office/drawing/2014/main" val="20000"/>
                    </a:ext>
                  </a:extLst>
                </a:gridCol>
                <a:gridCol w="5760749">
                  <a:extLst>
                    <a:ext uri="{9D8B030D-6E8A-4147-A177-3AD203B41FA5}">
                      <a16:colId xmlns:a16="http://schemas.microsoft.com/office/drawing/2014/main" val="20001"/>
                    </a:ext>
                  </a:extLst>
                </a:gridCol>
                <a:gridCol w="5026900">
                  <a:extLst>
                    <a:ext uri="{9D8B030D-6E8A-4147-A177-3AD203B41FA5}">
                      <a16:colId xmlns:a16="http://schemas.microsoft.com/office/drawing/2014/main" val="20002"/>
                    </a:ext>
                  </a:extLst>
                </a:gridCol>
              </a:tblGrid>
              <a:tr h="534791">
                <a:tc>
                  <a:txBody>
                    <a:bodyPr/>
                    <a:lstStyle/>
                    <a:p>
                      <a:pPr marL="0" lvl="0" indent="0" algn="ctr" rtl="0">
                        <a:spcBef>
                          <a:spcPts val="0"/>
                        </a:spcBef>
                        <a:spcAft>
                          <a:spcPts val="0"/>
                        </a:spcAft>
                        <a:buNone/>
                      </a:pPr>
                      <a:r>
                        <a:rPr lang="en" sz="2000" b="1" dirty="0">
                          <a:latin typeface="Times New Roman"/>
                          <a:ea typeface="Times New Roman"/>
                          <a:cs typeface="Times New Roman"/>
                          <a:sym typeface="Times New Roman"/>
                        </a:rPr>
                        <a:t>References</a:t>
                      </a:r>
                      <a:endParaRPr sz="2000" b="1" dirty="0">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en" sz="2000" b="1">
                          <a:latin typeface="Times New Roman"/>
                          <a:ea typeface="Times New Roman"/>
                          <a:cs typeface="Times New Roman"/>
                          <a:sym typeface="Times New Roman"/>
                        </a:rPr>
                        <a:t>Methodology</a:t>
                      </a:r>
                      <a:endParaRPr sz="2000" b="1">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en" sz="2000" b="1">
                          <a:latin typeface="Times New Roman"/>
                          <a:ea typeface="Times New Roman"/>
                          <a:cs typeface="Times New Roman"/>
                          <a:sym typeface="Times New Roman"/>
                        </a:rPr>
                        <a:t>Drawbacks</a:t>
                      </a:r>
                      <a:endParaRPr sz="2000" b="1">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2456815">
                <a:tc>
                  <a:txBody>
                    <a:bodyPr/>
                    <a:lstStyle/>
                    <a:p>
                      <a:r>
                        <a:rPr lang="en-US" b="1" dirty="0"/>
                        <a:t>MoRTH, Government of India:</a:t>
                      </a:r>
                      <a:r>
                        <a:rPr lang="en-US" dirty="0"/>
                        <a:t> Annual reports on road accidents</a:t>
                      </a:r>
                    </a:p>
                    <a:p>
                      <a:r>
                        <a:rPr lang="en-US" dirty="0"/>
                        <a:t>Data source: data.gov.in</a:t>
                      </a:r>
                    </a:p>
                    <a:p>
                      <a:pPr marL="0" lvl="0" indent="0" algn="l" rtl="0">
                        <a:spcBef>
                          <a:spcPts val="0"/>
                        </a:spcBef>
                        <a:spcAft>
                          <a:spcPts val="0"/>
                        </a:spcAft>
                        <a:buNone/>
                      </a:pPr>
                      <a:endParaRPr dirty="0"/>
                    </a:p>
                  </a:txBody>
                  <a:tcPr marL="91425" marR="91425" marT="91425" marB="91425"/>
                </a:tc>
                <a:tc>
                  <a:txBody>
                    <a:bodyPr/>
                    <a:lstStyle/>
                    <a:p>
                      <a:r>
                        <a:rPr lang="en-US" dirty="0"/>
                        <a:t>Data collected from government portals (2019–2025)</a:t>
                      </a:r>
                    </a:p>
                    <a:p>
                      <a:r>
                        <a:rPr lang="en-US" dirty="0"/>
                        <a:t>Data cleaned and preprocessed (missing values, severity mapping)</a:t>
                      </a:r>
                    </a:p>
                  </a:txBody>
                  <a:tcPr marL="91425" marR="91425" marT="91425" marB="91425"/>
                </a:tc>
                <a:tc>
                  <a:txBody>
                    <a:bodyPr/>
                    <a:lstStyle/>
                    <a:p>
                      <a:pPr marL="0" lvl="0" indent="0" algn="l" rtl="0">
                        <a:spcBef>
                          <a:spcPts val="0"/>
                        </a:spcBef>
                        <a:spcAft>
                          <a:spcPts val="0"/>
                        </a:spcAft>
                        <a:buNone/>
                      </a:pPr>
                      <a:r>
                        <a:rPr lang="en" dirty="0"/>
                        <a:t>Complexity in model integration and may not scale well with larger datasets.</a:t>
                      </a:r>
                      <a:endParaRPr dirty="0"/>
                    </a:p>
                  </a:txBody>
                  <a:tcPr marL="91425" marR="91425" marT="91425" marB="91425"/>
                </a:tc>
                <a:extLst>
                  <a:ext uri="{0D108BD9-81ED-4DB2-BD59-A6C34878D82A}">
                    <a16:rowId xmlns:a16="http://schemas.microsoft.com/office/drawing/2014/main" val="10001"/>
                  </a:ext>
                </a:extLst>
              </a:tr>
              <a:tr h="2005557">
                <a:tc>
                  <a:txBody>
                    <a:bodyPr/>
                    <a:lstStyle/>
                    <a:p>
                      <a:r>
                        <a:rPr lang="en-US" b="1" dirty="0"/>
                        <a:t>Integrated Road Accident Database (</a:t>
                      </a:r>
                      <a:r>
                        <a:rPr lang="en-US" b="1" dirty="0" err="1"/>
                        <a:t>iRAD</a:t>
                      </a:r>
                      <a:r>
                        <a:rPr lang="en-US" b="1" dirty="0"/>
                        <a:t>):</a:t>
                      </a:r>
                      <a:r>
                        <a:rPr lang="en-US" dirty="0"/>
                        <a:t> Karnataka accident data</a:t>
                      </a:r>
                    </a:p>
                    <a:p>
                      <a:r>
                        <a:rPr lang="en-US" dirty="0"/>
                        <a:t>Data source: </a:t>
                      </a:r>
                      <a:r>
                        <a:rPr lang="en-US" dirty="0" err="1"/>
                        <a:t>iRAD</a:t>
                      </a:r>
                      <a:r>
                        <a:rPr lang="en-US" dirty="0"/>
                        <a:t> Portal</a:t>
                      </a:r>
                    </a:p>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en-CA" dirty="0"/>
                        <a:t>Analyzed using </a:t>
                      </a:r>
                      <a:r>
                        <a:rPr lang="en-CA" b="1" dirty="0"/>
                        <a:t>Python libraries</a:t>
                      </a:r>
                      <a:r>
                        <a:rPr lang="en-CA" dirty="0"/>
                        <a:t>: Pandas, NumPy, Matplotlib, </a:t>
                      </a:r>
                      <a:r>
                        <a:rPr lang="en-CA" dirty="0" err="1"/>
                        <a:t>Plotly</a:t>
                      </a:r>
                      <a:r>
                        <a:rPr lang="en-CA" dirty="0"/>
                        <a:t>.</a:t>
                      </a:r>
                      <a:endParaRPr dirty="0"/>
                    </a:p>
                  </a:txBody>
                  <a:tcPr marL="91425" marR="91425" marT="91425" marB="91425"/>
                </a:tc>
                <a:tc>
                  <a:txBody>
                    <a:bodyPr/>
                    <a:lstStyle/>
                    <a:p>
                      <a:r>
                        <a:rPr lang="en-US" dirty="0"/>
                        <a:t>No </a:t>
                      </a:r>
                      <a:r>
                        <a:rPr lang="en-US" b="1" dirty="0"/>
                        <a:t>predictive analytics</a:t>
                      </a:r>
                      <a:r>
                        <a:rPr lang="en-US" dirty="0"/>
                        <a:t> for accident trends.</a:t>
                      </a:r>
                    </a:p>
                  </a:txBody>
                  <a:tcPr marL="91425" marR="91425" marT="91425" marB="91425"/>
                </a:tc>
                <a:extLst>
                  <a:ext uri="{0D108BD9-81ED-4DB2-BD59-A6C34878D82A}">
                    <a16:rowId xmlns:a16="http://schemas.microsoft.com/office/drawing/2014/main" val="10002"/>
                  </a:ext>
                </a:extLst>
              </a:tr>
              <a:tr h="200555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b="1" dirty="0"/>
                        <a:t>Research Paper:</a:t>
                      </a:r>
                      <a:r>
                        <a:rPr lang="en-US" dirty="0"/>
                        <a:t> Sharma, A., &amp; Singh, R. (2021) – Analysis &amp; Prediction of Road Accidents Using ML</a:t>
                      </a:r>
                    </a:p>
                    <a:p>
                      <a:pPr marL="0" lvl="0" indent="0" algn="l" rtl="0">
                        <a:spcBef>
                          <a:spcPts val="0"/>
                        </a:spcBef>
                        <a:spcAft>
                          <a:spcPts val="0"/>
                        </a:spcAft>
                        <a:buNone/>
                      </a:pPr>
                      <a:endParaRPr dirty="0"/>
                    </a:p>
                  </a:txBody>
                  <a:tcPr marL="91425" marR="91425" marT="91425" marB="91425"/>
                </a:tc>
                <a:tc>
                  <a:txBody>
                    <a:bodyPr/>
                    <a:lstStyle/>
                    <a:p>
                      <a:r>
                        <a:rPr lang="en-US" dirty="0"/>
                        <a:t>Predicted future trends using </a:t>
                      </a:r>
                      <a:r>
                        <a:rPr lang="en-US" b="1" dirty="0"/>
                        <a:t>Linear Regression</a:t>
                      </a:r>
                      <a:endParaRPr lang="en-US" dirty="0"/>
                    </a:p>
                  </a:txBody>
                  <a:tcPr marL="91425" marR="91425" marT="91425" marB="91425"/>
                </a:tc>
                <a:tc>
                  <a:txBody>
                    <a:bodyPr/>
                    <a:lstStyle/>
                    <a:p>
                      <a:r>
                        <a:rPr lang="en-US" dirty="0"/>
                        <a:t>Difficult for authorities to extract </a:t>
                      </a:r>
                      <a:r>
                        <a:rPr lang="en-US" b="1" dirty="0"/>
                        <a:t>actionable insights quickly</a:t>
                      </a:r>
                      <a:endParaRPr lang="en-US" dirty="0"/>
                    </a:p>
                  </a:txBody>
                  <a:tcPr marL="91425" marR="91425" marT="91425" marB="91425"/>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56949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ABAD4-16D1-BDD4-95DD-5A361086976B}"/>
              </a:ext>
            </a:extLst>
          </p:cNvPr>
          <p:cNvSpPr>
            <a:spLocks noGrp="1"/>
          </p:cNvSpPr>
          <p:nvPr>
            <p:ph type="ctrTitle"/>
          </p:nvPr>
        </p:nvSpPr>
        <p:spPr>
          <a:xfrm>
            <a:off x="3505200" y="1638300"/>
            <a:ext cx="7772400" cy="1470025"/>
          </a:xfrm>
        </p:spPr>
        <p:txBody>
          <a:bodyPr>
            <a:noAutofit/>
          </a:bodyPr>
          <a:lstStyle/>
          <a:p>
            <a:r>
              <a:rPr lang="en-CA" sz="6600" b="1" dirty="0">
                <a:solidFill>
                  <a:schemeClr val="tx2"/>
                </a:solidFill>
                <a:latin typeface="Times New Roman"/>
                <a:ea typeface="Times New Roman"/>
                <a:cs typeface="Times New Roman"/>
                <a:sym typeface="Times New Roman"/>
              </a:rPr>
              <a:t>RESEARCH GAP</a:t>
            </a:r>
            <a:br>
              <a:rPr lang="en-CA" sz="6600" b="1" dirty="0">
                <a:solidFill>
                  <a:schemeClr val="tx2"/>
                </a:solidFill>
                <a:latin typeface="Times New Roman"/>
                <a:ea typeface="Times New Roman"/>
                <a:cs typeface="Times New Roman"/>
                <a:sym typeface="Times New Roman"/>
              </a:rPr>
            </a:br>
            <a:endParaRPr lang="en-CA" sz="6600" dirty="0">
              <a:solidFill>
                <a:schemeClr val="tx2"/>
              </a:solidFill>
            </a:endParaRPr>
          </a:p>
        </p:txBody>
      </p:sp>
      <p:sp>
        <p:nvSpPr>
          <p:cNvPr id="3" name="Subtitle 2">
            <a:extLst>
              <a:ext uri="{FF2B5EF4-FFF2-40B4-BE49-F238E27FC236}">
                <a16:creationId xmlns:a16="http://schemas.microsoft.com/office/drawing/2014/main" id="{DF606E3C-FA2F-DCB3-7BC5-A968BD6242D1}"/>
              </a:ext>
            </a:extLst>
          </p:cNvPr>
          <p:cNvSpPr>
            <a:spLocks noGrp="1"/>
          </p:cNvSpPr>
          <p:nvPr>
            <p:ph type="subTitle" idx="1"/>
          </p:nvPr>
        </p:nvSpPr>
        <p:spPr>
          <a:xfrm>
            <a:off x="914400" y="3238500"/>
            <a:ext cx="11734800" cy="4702175"/>
          </a:xfrm>
        </p:spPr>
        <p:txBody>
          <a:bodyPr>
            <a:noAutofit/>
          </a:bodyPr>
          <a:lstStyle/>
          <a:p>
            <a:pPr algn="l"/>
            <a:r>
              <a:rPr lang="en-US" sz="2800" dirty="0">
                <a:solidFill>
                  <a:schemeClr val="tx1"/>
                </a:solidFill>
                <a:latin typeface="Times New Roman" panose="02020603050405020304" pitchFamily="18" charset="0"/>
                <a:cs typeface="Times New Roman" panose="02020603050405020304" pitchFamily="18" charset="0"/>
              </a:rPr>
              <a:t>Despite the availability of road accident statistics in Karnataka, most existing reports are static and do not allow for interactive exploration by year, city, or severity. Additionally, very few studies provide predictive insights to forecast future accident trends, limiting their usefulness for preventive planning. City-specific actionable recommendations are often missing, and there is a lack of integrated platforms that combine visualizations, interactive maps, and downloadable reports in a single dashboard. Furthermore, policymakers and traffic authorities cannot easily filter or analyze the data to prioritize safety interventions. This project addresses these gaps by offering an interactive, predictive, and user-friendly dashboard that provides city-level insights and supports informed decision-making.</a:t>
            </a:r>
            <a:endParaRPr lang="en-CA" sz="2800" dirty="0">
              <a:solidFill>
                <a:schemeClr val="tx1"/>
              </a:solidFill>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5080349D-4A42-C811-8D94-74AA73654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49200" y="0"/>
            <a:ext cx="5638800" cy="1028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6632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10800000">
            <a:off x="6938080" y="8246207"/>
            <a:ext cx="6064231" cy="1370341"/>
            <a:chOff x="0" y="0"/>
            <a:chExt cx="1597164" cy="360913"/>
          </a:xfrm>
        </p:grpSpPr>
        <p:sp>
          <p:nvSpPr>
            <p:cNvPr id="5" name="Freeform 5"/>
            <p:cNvSpPr/>
            <p:nvPr/>
          </p:nvSpPr>
          <p:spPr>
            <a:xfrm>
              <a:off x="0" y="0"/>
              <a:ext cx="1597164" cy="360913"/>
            </a:xfrm>
            <a:custGeom>
              <a:avLst/>
              <a:gdLst/>
              <a:ahLst/>
              <a:cxnLst/>
              <a:rect l="l" t="t" r="r" b="b"/>
              <a:pathLst>
                <a:path w="1597164" h="360913">
                  <a:moveTo>
                    <a:pt x="0" y="0"/>
                  </a:moveTo>
                  <a:lnTo>
                    <a:pt x="1597164" y="0"/>
                  </a:lnTo>
                  <a:lnTo>
                    <a:pt x="1597164" y="360913"/>
                  </a:lnTo>
                  <a:lnTo>
                    <a:pt x="0" y="360913"/>
                  </a:lnTo>
                  <a:close/>
                </a:path>
              </a:pathLst>
            </a:custGeom>
            <a:solidFill>
              <a:srgbClr val="FFFFFF"/>
            </a:solidFill>
          </p:spPr>
        </p:sp>
        <p:sp>
          <p:nvSpPr>
            <p:cNvPr id="6" name="TextBox 6"/>
            <p:cNvSpPr txBox="1"/>
            <p:nvPr/>
          </p:nvSpPr>
          <p:spPr>
            <a:xfrm>
              <a:off x="0" y="-38100"/>
              <a:ext cx="1597164" cy="399013"/>
            </a:xfrm>
            <a:prstGeom prst="rect">
              <a:avLst/>
            </a:prstGeom>
          </p:spPr>
          <p:txBody>
            <a:bodyPr lIns="50800" tIns="50800" rIns="50800" bIns="50800" rtlCol="0" anchor="ctr"/>
            <a:lstStyle/>
            <a:p>
              <a:pPr algn="ctr">
                <a:lnSpc>
                  <a:spcPts val="3295"/>
                </a:lnSpc>
              </a:pPr>
              <a:endParaRPr/>
            </a:p>
          </p:txBody>
        </p:sp>
      </p:grpSp>
      <p:grpSp>
        <p:nvGrpSpPr>
          <p:cNvPr id="10" name="Group 10"/>
          <p:cNvGrpSpPr/>
          <p:nvPr/>
        </p:nvGrpSpPr>
        <p:grpSpPr>
          <a:xfrm>
            <a:off x="5285690" y="670452"/>
            <a:ext cx="6064231" cy="1370341"/>
            <a:chOff x="0" y="0"/>
            <a:chExt cx="1597164" cy="360913"/>
          </a:xfrm>
        </p:grpSpPr>
        <p:sp>
          <p:nvSpPr>
            <p:cNvPr id="11" name="Freeform 11"/>
            <p:cNvSpPr/>
            <p:nvPr/>
          </p:nvSpPr>
          <p:spPr>
            <a:xfrm>
              <a:off x="0" y="0"/>
              <a:ext cx="1597164" cy="360913"/>
            </a:xfrm>
            <a:custGeom>
              <a:avLst/>
              <a:gdLst/>
              <a:ahLst/>
              <a:cxnLst/>
              <a:rect l="l" t="t" r="r" b="b"/>
              <a:pathLst>
                <a:path w="1597164" h="360913">
                  <a:moveTo>
                    <a:pt x="0" y="0"/>
                  </a:moveTo>
                  <a:lnTo>
                    <a:pt x="1597164" y="0"/>
                  </a:lnTo>
                  <a:lnTo>
                    <a:pt x="1597164" y="360913"/>
                  </a:lnTo>
                  <a:lnTo>
                    <a:pt x="0" y="360913"/>
                  </a:lnTo>
                  <a:close/>
                </a:path>
              </a:pathLst>
            </a:custGeom>
            <a:solidFill>
              <a:srgbClr val="FFFFFF"/>
            </a:solidFill>
          </p:spPr>
        </p:sp>
        <p:sp>
          <p:nvSpPr>
            <p:cNvPr id="12" name="TextBox 12"/>
            <p:cNvSpPr txBox="1"/>
            <p:nvPr/>
          </p:nvSpPr>
          <p:spPr>
            <a:xfrm>
              <a:off x="0" y="-38100"/>
              <a:ext cx="1597164" cy="399013"/>
            </a:xfrm>
            <a:prstGeom prst="rect">
              <a:avLst/>
            </a:prstGeom>
          </p:spPr>
          <p:txBody>
            <a:bodyPr lIns="50800" tIns="50800" rIns="50800" bIns="50800" rtlCol="0" anchor="ctr"/>
            <a:lstStyle/>
            <a:p>
              <a:pPr algn="ctr">
                <a:lnSpc>
                  <a:spcPts val="3295"/>
                </a:lnSpc>
              </a:pPr>
              <a:endParaRPr/>
            </a:p>
          </p:txBody>
        </p:sp>
      </p:grpSp>
      <p:sp>
        <p:nvSpPr>
          <p:cNvPr id="17" name="TextBox 17"/>
          <p:cNvSpPr txBox="1"/>
          <p:nvPr/>
        </p:nvSpPr>
        <p:spPr>
          <a:xfrm>
            <a:off x="8196600" y="428522"/>
            <a:ext cx="6306642" cy="1854200"/>
          </a:xfrm>
          <a:prstGeom prst="rect">
            <a:avLst/>
          </a:prstGeom>
        </p:spPr>
        <p:txBody>
          <a:bodyPr wrap="square" lIns="0" tIns="0" rIns="0" bIns="0" rtlCol="0" anchor="t">
            <a:spAutoFit/>
          </a:bodyPr>
          <a:lstStyle/>
          <a:p>
            <a:pPr algn="ctr">
              <a:lnSpc>
                <a:spcPts val="7150"/>
              </a:lnSpc>
            </a:pPr>
            <a:r>
              <a:rPr lang="en-US" sz="6500" b="1" dirty="0">
                <a:solidFill>
                  <a:srgbClr val="034383"/>
                </a:solidFill>
                <a:latin typeface="Times New Roman" panose="02020603050405020304" pitchFamily="18" charset="0"/>
                <a:ea typeface="Ubuntu Bold"/>
                <a:cs typeface="Times New Roman" panose="02020603050405020304" pitchFamily="18" charset="0"/>
                <a:sym typeface="Ubuntu Bold"/>
              </a:rPr>
              <a:t>PROBLEM</a:t>
            </a:r>
          </a:p>
          <a:p>
            <a:pPr algn="ctr">
              <a:lnSpc>
                <a:spcPts val="7150"/>
              </a:lnSpc>
            </a:pPr>
            <a:r>
              <a:rPr lang="en-US" sz="6500" b="1" dirty="0">
                <a:solidFill>
                  <a:srgbClr val="034383"/>
                </a:solidFill>
                <a:latin typeface="Times New Roman" panose="02020603050405020304" pitchFamily="18" charset="0"/>
                <a:ea typeface="Ubuntu Bold"/>
                <a:cs typeface="Times New Roman" panose="02020603050405020304" pitchFamily="18" charset="0"/>
                <a:sym typeface="Ubuntu Bold"/>
              </a:rPr>
              <a:t>STATEMENT</a:t>
            </a:r>
          </a:p>
        </p:txBody>
      </p:sp>
      <p:sp>
        <p:nvSpPr>
          <p:cNvPr id="18" name="TextBox 18"/>
          <p:cNvSpPr txBox="1"/>
          <p:nvPr/>
        </p:nvSpPr>
        <p:spPr>
          <a:xfrm>
            <a:off x="8399958" y="2834998"/>
            <a:ext cx="8668842" cy="5373266"/>
          </a:xfrm>
          <a:prstGeom prst="rect">
            <a:avLst/>
          </a:prstGeom>
        </p:spPr>
        <p:txBody>
          <a:bodyPr wrap="square" lIns="0" tIns="0" rIns="0" bIns="0" rtlCol="0" anchor="t">
            <a:spAutoFit/>
          </a:bodyPr>
          <a:lstStyle/>
          <a:p>
            <a:r>
              <a:rPr lang="en-US" sz="3200" dirty="0"/>
              <a:t>Road accidents in Karnataka continue to pose a major public safety challenge, leading to loss of lives, injuries, and economic damage. Despite the availability of accident data, there is a lack of comprehensive analysis that can identify </a:t>
            </a:r>
            <a:r>
              <a:rPr lang="en-US" sz="3200" b="1" dirty="0"/>
              <a:t>accident hotspots, trends, and high-risk conditions</a:t>
            </a:r>
            <a:r>
              <a:rPr lang="en-US" sz="3200" dirty="0"/>
              <a:t> across cities, road types, weather, and vehicle categories. This limits the ability of authorities to implement </a:t>
            </a:r>
            <a:r>
              <a:rPr lang="en-US" sz="3200" b="1" dirty="0"/>
              <a:t>targeted preventive measures</a:t>
            </a:r>
            <a:r>
              <a:rPr lang="en-US" sz="3200" dirty="0"/>
              <a:t> and improve overall road safety.</a:t>
            </a:r>
          </a:p>
          <a:p>
            <a:pPr algn="just">
              <a:lnSpc>
                <a:spcPts val="3500"/>
              </a:lnSpc>
            </a:pPr>
            <a:endParaRPr lang="en-US" sz="3000" dirty="0">
              <a:solidFill>
                <a:srgbClr val="0D1D29"/>
              </a:solidFill>
              <a:latin typeface="Open Sans"/>
              <a:ea typeface="Open Sans"/>
              <a:cs typeface="Open Sans"/>
              <a:sym typeface="Open Sans"/>
            </a:endParaRPr>
          </a:p>
        </p:txBody>
      </p:sp>
      <p:sp>
        <p:nvSpPr>
          <p:cNvPr id="19" name="AutoShape 2" descr="Traffic">
            <a:extLst>
              <a:ext uri="{FF2B5EF4-FFF2-40B4-BE49-F238E27FC236}">
                <a16:creationId xmlns:a16="http://schemas.microsoft.com/office/drawing/2014/main" id="{BF406AD4-4B8C-2F57-86B8-14C61E33C85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4100" name="Picture 4">
            <a:extLst>
              <a:ext uri="{FF2B5EF4-FFF2-40B4-BE49-F238E27FC236}">
                <a16:creationId xmlns:a16="http://schemas.microsoft.com/office/drawing/2014/main" id="{4E7A6F20-9853-CBFE-D1E2-B2EBCCCD6D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758" y="1282063"/>
            <a:ext cx="7264242" cy="78238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77036" y="1134741"/>
            <a:ext cx="13766990" cy="949325"/>
          </a:xfrm>
          <a:prstGeom prst="rect">
            <a:avLst/>
          </a:prstGeom>
        </p:spPr>
        <p:txBody>
          <a:bodyPr lIns="0" tIns="0" rIns="0" bIns="0" rtlCol="0" anchor="t">
            <a:spAutoFit/>
          </a:bodyPr>
          <a:lstStyle/>
          <a:p>
            <a:pPr algn="ctr">
              <a:lnSpc>
                <a:spcPts val="7150"/>
              </a:lnSpc>
            </a:pPr>
            <a:r>
              <a:rPr lang="en-US" sz="6500" b="1" dirty="0">
                <a:solidFill>
                  <a:srgbClr val="034383"/>
                </a:solidFill>
                <a:latin typeface="Times New Roman" panose="02020603050405020304" pitchFamily="18" charset="0"/>
                <a:ea typeface="Ubuntu Bold"/>
                <a:cs typeface="Times New Roman" panose="02020603050405020304" pitchFamily="18" charset="0"/>
                <a:sym typeface="Ubuntu Bold"/>
              </a:rPr>
              <a:t>OBJECTIVES OF THE PROJECT</a:t>
            </a:r>
          </a:p>
        </p:txBody>
      </p:sp>
      <p:sp>
        <p:nvSpPr>
          <p:cNvPr id="40" name="Rectangle 6">
            <a:extLst>
              <a:ext uri="{FF2B5EF4-FFF2-40B4-BE49-F238E27FC236}">
                <a16:creationId xmlns:a16="http://schemas.microsoft.com/office/drawing/2014/main" id="{5EF89AAD-0A85-3517-5F0A-018D0B9B9846}"/>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5" name="Rectangle 1">
            <a:extLst>
              <a:ext uri="{FF2B5EF4-FFF2-40B4-BE49-F238E27FC236}">
                <a16:creationId xmlns:a16="http://schemas.microsoft.com/office/drawing/2014/main" id="{7123CD99-B948-C039-9BE6-5E7520D5DBBA}"/>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7" name="TextBox 36">
            <a:extLst>
              <a:ext uri="{FF2B5EF4-FFF2-40B4-BE49-F238E27FC236}">
                <a16:creationId xmlns:a16="http://schemas.microsoft.com/office/drawing/2014/main" id="{05FE0789-38D1-FCAA-6CF4-4EFD2A1CC179}"/>
              </a:ext>
            </a:extLst>
          </p:cNvPr>
          <p:cNvSpPr txBox="1"/>
          <p:nvPr/>
        </p:nvSpPr>
        <p:spPr>
          <a:xfrm>
            <a:off x="533400" y="2413282"/>
            <a:ext cx="13411200" cy="526297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Road Accident Data:</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Examine accidents in Karnataka from 2021–2025 based on city, severity, weather, road type, and vehicle type.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Accident Hotspots: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Map high-risk locations to help authorities prioritize interventions.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Visualize Trends &amp; Patterns: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 interactive charts and graphs for yearly, seasonal, and daily accident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City-Specific Insights: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Highlight top risk factors and recommend targeted safety measures.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Predictive Analysis: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Forecast future accident trends using historical data for proactive planning.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Reports: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 download of CSV and PDF reports for decision-making and documentation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51607" y="1066800"/>
            <a:ext cx="15584786" cy="949325"/>
          </a:xfrm>
          <a:prstGeom prst="rect">
            <a:avLst/>
          </a:prstGeom>
        </p:spPr>
        <p:txBody>
          <a:bodyPr lIns="0" tIns="0" rIns="0" bIns="0" rtlCol="0" anchor="t">
            <a:spAutoFit/>
          </a:bodyPr>
          <a:lstStyle/>
          <a:p>
            <a:pPr algn="ctr">
              <a:lnSpc>
                <a:spcPts val="7150"/>
              </a:lnSpc>
            </a:pPr>
            <a:r>
              <a:rPr lang="en-US" sz="6500" b="1" dirty="0">
                <a:solidFill>
                  <a:srgbClr val="034383"/>
                </a:solidFill>
                <a:latin typeface="Times New Roman" panose="02020603050405020304" pitchFamily="18" charset="0"/>
                <a:ea typeface="Ubuntu Bold"/>
                <a:cs typeface="Times New Roman" panose="02020603050405020304" pitchFamily="18" charset="0"/>
                <a:sym typeface="Ubuntu Bold"/>
              </a:rPr>
              <a:t>TECHNOLOGIES USED</a:t>
            </a:r>
          </a:p>
        </p:txBody>
      </p:sp>
      <p:sp>
        <p:nvSpPr>
          <p:cNvPr id="4" name="AutoShape 4"/>
          <p:cNvSpPr/>
          <p:nvPr/>
        </p:nvSpPr>
        <p:spPr>
          <a:xfrm flipH="1">
            <a:off x="9095657" y="4548867"/>
            <a:ext cx="0" cy="864254"/>
          </a:xfrm>
          <a:prstGeom prst="line">
            <a:avLst/>
          </a:prstGeom>
          <a:ln w="47625" cap="flat">
            <a:solidFill>
              <a:srgbClr val="034383"/>
            </a:solidFill>
            <a:prstDash val="solid"/>
            <a:headEnd type="none" w="sm" len="sm"/>
            <a:tailEnd type="none" w="sm" len="sm"/>
          </a:ln>
        </p:spPr>
      </p:sp>
      <p:sp>
        <p:nvSpPr>
          <p:cNvPr id="5" name="AutoShape 5"/>
          <p:cNvSpPr/>
          <p:nvPr/>
        </p:nvSpPr>
        <p:spPr>
          <a:xfrm flipH="1">
            <a:off x="9095657" y="6562826"/>
            <a:ext cx="0" cy="864254"/>
          </a:xfrm>
          <a:prstGeom prst="line">
            <a:avLst/>
          </a:prstGeom>
          <a:ln w="47625" cap="flat">
            <a:solidFill>
              <a:srgbClr val="034383"/>
            </a:solidFill>
            <a:prstDash val="solid"/>
            <a:headEnd type="none" w="sm" len="sm"/>
            <a:tailEnd type="none" w="sm" len="sm"/>
          </a:ln>
        </p:spPr>
      </p:sp>
      <p:grpSp>
        <p:nvGrpSpPr>
          <p:cNvPr id="7" name="Group 7"/>
          <p:cNvGrpSpPr/>
          <p:nvPr/>
        </p:nvGrpSpPr>
        <p:grpSpPr>
          <a:xfrm>
            <a:off x="1566500" y="2972126"/>
            <a:ext cx="6105170" cy="5890220"/>
            <a:chOff x="0" y="0"/>
            <a:chExt cx="8140226" cy="7853627"/>
          </a:xfrm>
        </p:grpSpPr>
        <p:grpSp>
          <p:nvGrpSpPr>
            <p:cNvPr id="8" name="Group 8"/>
            <p:cNvGrpSpPr/>
            <p:nvPr/>
          </p:nvGrpSpPr>
          <p:grpSpPr>
            <a:xfrm rot="-10800000">
              <a:off x="0" y="0"/>
              <a:ext cx="8140226" cy="7853627"/>
              <a:chOff x="0" y="0"/>
              <a:chExt cx="2568297" cy="2477873"/>
            </a:xfrm>
          </p:grpSpPr>
          <p:sp>
            <p:nvSpPr>
              <p:cNvPr id="9" name="Freeform 9"/>
              <p:cNvSpPr/>
              <p:nvPr/>
            </p:nvSpPr>
            <p:spPr>
              <a:xfrm>
                <a:off x="0" y="0"/>
                <a:ext cx="2568297" cy="2477873"/>
              </a:xfrm>
              <a:custGeom>
                <a:avLst/>
                <a:gdLst/>
                <a:ahLst/>
                <a:cxnLst/>
                <a:rect l="l" t="t" r="r" b="b"/>
                <a:pathLst>
                  <a:path w="2568297" h="2477873">
                    <a:moveTo>
                      <a:pt x="0" y="0"/>
                    </a:moveTo>
                    <a:lnTo>
                      <a:pt x="2568297" y="0"/>
                    </a:lnTo>
                    <a:lnTo>
                      <a:pt x="2568297" y="2477873"/>
                    </a:lnTo>
                    <a:lnTo>
                      <a:pt x="0" y="2477873"/>
                    </a:lnTo>
                    <a:close/>
                  </a:path>
                </a:pathLst>
              </a:custGeom>
              <a:solidFill>
                <a:srgbClr val="EFEFEF"/>
              </a:solidFill>
            </p:spPr>
          </p:sp>
          <p:sp>
            <p:nvSpPr>
              <p:cNvPr id="10" name="TextBox 10"/>
              <p:cNvSpPr txBox="1"/>
              <p:nvPr/>
            </p:nvSpPr>
            <p:spPr>
              <a:xfrm>
                <a:off x="0" y="-38100"/>
                <a:ext cx="2568297" cy="2515973"/>
              </a:xfrm>
              <a:prstGeom prst="rect">
                <a:avLst/>
              </a:prstGeom>
            </p:spPr>
            <p:txBody>
              <a:bodyPr lIns="50800" tIns="50800" rIns="50800" bIns="50800" rtlCol="0" anchor="ctr"/>
              <a:lstStyle/>
              <a:p>
                <a:pPr algn="ctr">
                  <a:lnSpc>
                    <a:spcPts val="3295"/>
                  </a:lnSpc>
                </a:pPr>
                <a:endParaRPr/>
              </a:p>
            </p:txBody>
          </p:sp>
        </p:grpSp>
        <p:sp>
          <p:nvSpPr>
            <p:cNvPr id="11" name="TextBox 11"/>
            <p:cNvSpPr txBox="1"/>
            <p:nvPr/>
          </p:nvSpPr>
          <p:spPr>
            <a:xfrm>
              <a:off x="372305" y="1569189"/>
              <a:ext cx="7618886" cy="5745163"/>
            </a:xfrm>
            <a:prstGeom prst="rect">
              <a:avLst/>
            </a:prstGeom>
          </p:spPr>
          <p:txBody>
            <a:bodyPr lIns="0" tIns="0" rIns="0" bIns="0" rtlCol="0" anchor="t">
              <a:spAutoFit/>
            </a:bodyPr>
            <a:lstStyle/>
            <a:p>
              <a:pPr lvl="0" eaLnBrk="0" fontAlgn="base" hangingPunct="0">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Frontend / UI:</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Streamlit</a:t>
              </a:r>
              <a:r>
                <a:rPr lang="en-US" altLang="en-US" sz="2800" dirty="0">
                  <a:latin typeface="Times New Roman" panose="02020603050405020304" pitchFamily="18" charset="0"/>
                  <a:cs typeface="Times New Roman" panose="02020603050405020304" pitchFamily="18" charset="0"/>
                </a:rPr>
                <a:t>, HTML, CSS</a:t>
              </a:r>
            </a:p>
            <a:p>
              <a:pPr lvl="0" eaLnBrk="0" fontAlgn="base" hangingPunct="0">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Backend / Data Processing:</a:t>
              </a:r>
              <a:r>
                <a:rPr lang="en-US" altLang="en-US" sz="2800" dirty="0">
                  <a:latin typeface="Times New Roman" panose="02020603050405020304" pitchFamily="18" charset="0"/>
                  <a:cs typeface="Times New Roman" panose="02020603050405020304" pitchFamily="18" charset="0"/>
                </a:rPr>
                <a:t> Python, Pandas, NumPy, Scikit-learn</a:t>
              </a:r>
            </a:p>
            <a:p>
              <a:pPr lvl="0" eaLnBrk="0" fontAlgn="base" hangingPunct="0">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Visualization &amp; Mapping:</a:t>
              </a:r>
              <a:r>
                <a:rPr lang="en-US" altLang="en-US" sz="2800" dirty="0">
                  <a:latin typeface="Times New Roman" panose="02020603050405020304" pitchFamily="18" charset="0"/>
                  <a:cs typeface="Times New Roman" panose="02020603050405020304" pitchFamily="18" charset="0"/>
                </a:rPr>
                <a:t> Matplotlib, </a:t>
              </a:r>
              <a:r>
                <a:rPr lang="en-US" altLang="en-US" sz="2800" dirty="0" err="1">
                  <a:latin typeface="Times New Roman" panose="02020603050405020304" pitchFamily="18" charset="0"/>
                  <a:cs typeface="Times New Roman" panose="02020603050405020304" pitchFamily="18" charset="0"/>
                </a:rPr>
                <a:t>Plotly</a:t>
              </a:r>
              <a:r>
                <a:rPr lang="en-US" altLang="en-US" sz="2800" dirty="0">
                  <a:latin typeface="Times New Roman" panose="02020603050405020304" pitchFamily="18" charset="0"/>
                  <a:cs typeface="Times New Roman" panose="02020603050405020304" pitchFamily="18" charset="0"/>
                </a:rPr>
                <a:t>, Folium</a:t>
              </a:r>
            </a:p>
            <a:p>
              <a:pPr lvl="0" eaLnBrk="0" fontAlgn="base" hangingPunct="0">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Reporting &amp; Export:</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ReportLab</a:t>
              </a:r>
              <a:r>
                <a:rPr lang="en-US" altLang="en-US" sz="2800" dirty="0">
                  <a:latin typeface="Times New Roman" panose="02020603050405020304" pitchFamily="18" charset="0"/>
                  <a:cs typeface="Times New Roman" panose="02020603050405020304" pitchFamily="18" charset="0"/>
                </a:rPr>
                <a:t> (PDF), CSV</a:t>
              </a:r>
            </a:p>
            <a:p>
              <a:pPr lvl="0" eaLnBrk="0" fontAlgn="base" hangingPunct="0">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Development Approach:</a:t>
              </a:r>
              <a:r>
                <a:rPr lang="en-US" altLang="en-US" sz="2800" dirty="0">
                  <a:latin typeface="Times New Roman" panose="02020603050405020304" pitchFamily="18" charset="0"/>
                  <a:cs typeface="Times New Roman" panose="02020603050405020304" pitchFamily="18" charset="0"/>
                </a:rPr>
                <a:t> Agile methodology for iterative development</a:t>
              </a:r>
            </a:p>
          </p:txBody>
        </p:sp>
        <p:sp>
          <p:nvSpPr>
            <p:cNvPr id="12" name="TextBox 12"/>
            <p:cNvSpPr txBox="1"/>
            <p:nvPr/>
          </p:nvSpPr>
          <p:spPr>
            <a:xfrm>
              <a:off x="291603" y="202681"/>
              <a:ext cx="7557023" cy="827235"/>
            </a:xfrm>
            <a:prstGeom prst="rect">
              <a:avLst/>
            </a:prstGeom>
          </p:spPr>
          <p:txBody>
            <a:bodyPr lIns="0" tIns="0" rIns="0" bIns="0" rtlCol="0" anchor="t">
              <a:spAutoFit/>
            </a:bodyPr>
            <a:lstStyle/>
            <a:p>
              <a:pPr algn="ctr">
                <a:lnSpc>
                  <a:spcPts val="5188"/>
                </a:lnSpc>
              </a:pPr>
              <a:r>
                <a:rPr lang="en-US" sz="3706" b="1" dirty="0">
                  <a:solidFill>
                    <a:srgbClr val="000000"/>
                  </a:solidFill>
                  <a:latin typeface="Canva Sans Bold"/>
                  <a:ea typeface="Canva Sans Bold"/>
                  <a:cs typeface="Canva Sans Bold"/>
                  <a:sym typeface="Canva Sans Bold"/>
                </a:rPr>
                <a:t> </a:t>
              </a:r>
              <a:r>
                <a:rPr lang="en-US" sz="3706" b="1" dirty="0">
                  <a:solidFill>
                    <a:srgbClr val="000000"/>
                  </a:solidFill>
                  <a:latin typeface="Times New Roman" panose="02020603050405020304" pitchFamily="18" charset="0"/>
                  <a:ea typeface="Canva Sans Bold"/>
                  <a:cs typeface="Times New Roman" panose="02020603050405020304" pitchFamily="18" charset="0"/>
                  <a:sym typeface="Canva Sans Bold"/>
                </a:rPr>
                <a:t>Software Requirements</a:t>
              </a:r>
              <a:r>
                <a:rPr lang="en-US" sz="3706" b="1" dirty="0">
                  <a:solidFill>
                    <a:srgbClr val="000000"/>
                  </a:solidFill>
                  <a:latin typeface="Canva Sans Bold"/>
                  <a:ea typeface="Canva Sans Bold"/>
                  <a:cs typeface="Canva Sans Bold"/>
                  <a:sym typeface="Canva Sans Bold"/>
                </a:rPr>
                <a:t>:</a:t>
              </a:r>
            </a:p>
          </p:txBody>
        </p:sp>
      </p:grpSp>
      <p:grpSp>
        <p:nvGrpSpPr>
          <p:cNvPr id="13" name="Group 13"/>
          <p:cNvGrpSpPr/>
          <p:nvPr/>
        </p:nvGrpSpPr>
        <p:grpSpPr>
          <a:xfrm rot="-10800000">
            <a:off x="10519645" y="2972126"/>
            <a:ext cx="6105170" cy="5890220"/>
            <a:chOff x="0" y="0"/>
            <a:chExt cx="2568297" cy="2477873"/>
          </a:xfrm>
        </p:grpSpPr>
        <p:sp>
          <p:nvSpPr>
            <p:cNvPr id="14" name="Freeform 14"/>
            <p:cNvSpPr/>
            <p:nvPr/>
          </p:nvSpPr>
          <p:spPr>
            <a:xfrm>
              <a:off x="0" y="0"/>
              <a:ext cx="2568297" cy="2477873"/>
            </a:xfrm>
            <a:custGeom>
              <a:avLst/>
              <a:gdLst/>
              <a:ahLst/>
              <a:cxnLst/>
              <a:rect l="l" t="t" r="r" b="b"/>
              <a:pathLst>
                <a:path w="2568297" h="2477873">
                  <a:moveTo>
                    <a:pt x="0" y="0"/>
                  </a:moveTo>
                  <a:lnTo>
                    <a:pt x="2568297" y="0"/>
                  </a:lnTo>
                  <a:lnTo>
                    <a:pt x="2568297" y="2477873"/>
                  </a:lnTo>
                  <a:lnTo>
                    <a:pt x="0" y="2477873"/>
                  </a:lnTo>
                  <a:close/>
                </a:path>
              </a:pathLst>
            </a:custGeom>
            <a:solidFill>
              <a:srgbClr val="EFEFEF"/>
            </a:solidFill>
          </p:spPr>
        </p:sp>
        <p:sp>
          <p:nvSpPr>
            <p:cNvPr id="15" name="TextBox 15"/>
            <p:cNvSpPr txBox="1"/>
            <p:nvPr/>
          </p:nvSpPr>
          <p:spPr>
            <a:xfrm>
              <a:off x="0" y="-38100"/>
              <a:ext cx="2568297" cy="2515973"/>
            </a:xfrm>
            <a:prstGeom prst="rect">
              <a:avLst/>
            </a:prstGeom>
          </p:spPr>
          <p:txBody>
            <a:bodyPr lIns="50800" tIns="50800" rIns="50800" bIns="50800" rtlCol="0" anchor="ctr"/>
            <a:lstStyle/>
            <a:p>
              <a:pPr algn="ctr">
                <a:lnSpc>
                  <a:spcPts val="3295"/>
                </a:lnSpc>
              </a:pPr>
              <a:endParaRPr/>
            </a:p>
          </p:txBody>
        </p:sp>
      </p:grpSp>
      <p:sp>
        <p:nvSpPr>
          <p:cNvPr id="16" name="TextBox 16"/>
          <p:cNvSpPr txBox="1"/>
          <p:nvPr/>
        </p:nvSpPr>
        <p:spPr>
          <a:xfrm>
            <a:off x="10715147" y="4035457"/>
            <a:ext cx="5800316" cy="3939540"/>
          </a:xfrm>
          <a:prstGeom prst="rect">
            <a:avLst/>
          </a:prstGeom>
        </p:spPr>
        <p:txBody>
          <a:bodyPr lIns="0" tIns="0" rIns="0" bIns="0" rtlCol="0" anchor="t">
            <a:spAutoFit/>
          </a:bodyPr>
          <a:lstStyle/>
          <a:p>
            <a:r>
              <a:rPr lang="en-CA" sz="3200" b="1" dirty="0">
                <a:latin typeface="Times New Roman" panose="02020603050405020304" pitchFamily="18" charset="0"/>
                <a:cs typeface="Times New Roman" panose="02020603050405020304" pitchFamily="18" charset="0"/>
              </a:rPr>
              <a:t>Processor:</a:t>
            </a:r>
            <a:r>
              <a:rPr lang="en-CA" sz="3200" dirty="0">
                <a:latin typeface="Times New Roman" panose="02020603050405020304" pitchFamily="18" charset="0"/>
                <a:cs typeface="Times New Roman" panose="02020603050405020304" pitchFamily="18" charset="0"/>
              </a:rPr>
              <a:t> Intel Core i5 or higher</a:t>
            </a:r>
          </a:p>
          <a:p>
            <a:r>
              <a:rPr lang="en-CA" sz="3200" b="1" dirty="0">
                <a:latin typeface="Times New Roman" panose="02020603050405020304" pitchFamily="18" charset="0"/>
                <a:cs typeface="Times New Roman" panose="02020603050405020304" pitchFamily="18" charset="0"/>
              </a:rPr>
              <a:t>RAM:</a:t>
            </a:r>
            <a:r>
              <a:rPr lang="en-CA" sz="3200" dirty="0">
                <a:latin typeface="Times New Roman" panose="02020603050405020304" pitchFamily="18" charset="0"/>
                <a:cs typeface="Times New Roman" panose="02020603050405020304" pitchFamily="18" charset="0"/>
              </a:rPr>
              <a:t> 8 GB or more</a:t>
            </a:r>
          </a:p>
          <a:p>
            <a:r>
              <a:rPr lang="en-CA" sz="3200" b="1" dirty="0">
                <a:latin typeface="Times New Roman" panose="02020603050405020304" pitchFamily="18" charset="0"/>
                <a:cs typeface="Times New Roman" panose="02020603050405020304" pitchFamily="18" charset="0"/>
              </a:rPr>
              <a:t>Storage:</a:t>
            </a:r>
            <a:r>
              <a:rPr lang="en-CA" sz="3200" dirty="0">
                <a:latin typeface="Times New Roman" panose="02020603050405020304" pitchFamily="18" charset="0"/>
                <a:cs typeface="Times New Roman" panose="02020603050405020304" pitchFamily="18" charset="0"/>
              </a:rPr>
              <a:t> Minimum 100 GB HDD/SSD</a:t>
            </a:r>
          </a:p>
          <a:p>
            <a:r>
              <a:rPr lang="en-CA" sz="3200" b="1" dirty="0">
                <a:latin typeface="Times New Roman" panose="02020603050405020304" pitchFamily="18" charset="0"/>
                <a:cs typeface="Times New Roman" panose="02020603050405020304" pitchFamily="18" charset="0"/>
              </a:rPr>
              <a:t>Operating System:</a:t>
            </a:r>
            <a:r>
              <a:rPr lang="en-CA" sz="3200" dirty="0">
                <a:latin typeface="Times New Roman" panose="02020603050405020304" pitchFamily="18" charset="0"/>
                <a:cs typeface="Times New Roman" panose="02020603050405020304" pitchFamily="18" charset="0"/>
              </a:rPr>
              <a:t> Windows 10/11, Linux, or macOS</a:t>
            </a:r>
          </a:p>
          <a:p>
            <a:r>
              <a:rPr lang="en-CA" sz="3200" b="1" dirty="0">
                <a:latin typeface="Times New Roman" panose="02020603050405020304" pitchFamily="18" charset="0"/>
                <a:cs typeface="Times New Roman" panose="02020603050405020304" pitchFamily="18" charset="0"/>
              </a:rPr>
              <a:t>Internet:</a:t>
            </a:r>
            <a:r>
              <a:rPr lang="en-CA" sz="3200" dirty="0">
                <a:latin typeface="Times New Roman" panose="02020603050405020304" pitchFamily="18" charset="0"/>
                <a:cs typeface="Times New Roman" panose="02020603050405020304" pitchFamily="18" charset="0"/>
              </a:rPr>
              <a:t> Required for map tiles and data downloads</a:t>
            </a:r>
          </a:p>
        </p:txBody>
      </p:sp>
      <p:sp>
        <p:nvSpPr>
          <p:cNvPr id="17" name="TextBox 17"/>
          <p:cNvSpPr txBox="1"/>
          <p:nvPr/>
        </p:nvSpPr>
        <p:spPr>
          <a:xfrm>
            <a:off x="10628995" y="3107468"/>
            <a:ext cx="5886468" cy="631050"/>
          </a:xfrm>
          <a:prstGeom prst="rect">
            <a:avLst/>
          </a:prstGeom>
        </p:spPr>
        <p:txBody>
          <a:bodyPr lIns="0" tIns="0" rIns="0" bIns="0" rtlCol="0" anchor="t">
            <a:spAutoFit/>
          </a:bodyPr>
          <a:lstStyle/>
          <a:p>
            <a:pPr algn="ctr">
              <a:lnSpc>
                <a:spcPts val="5188"/>
              </a:lnSpc>
            </a:pPr>
            <a:r>
              <a:rPr lang="en-US" sz="3706" b="1" dirty="0">
                <a:solidFill>
                  <a:srgbClr val="000000"/>
                </a:solidFill>
                <a:latin typeface="Times New Roman" panose="02020603050405020304" pitchFamily="18" charset="0"/>
                <a:ea typeface="Canva Sans Bold"/>
                <a:cs typeface="Times New Roman" panose="02020603050405020304" pitchFamily="18" charset="0"/>
                <a:sym typeface="Canva Sans Bold"/>
              </a:rPr>
              <a:t>Hardware Requirements: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4000" y="647700"/>
            <a:ext cx="15702433" cy="949325"/>
          </a:xfrm>
          <a:prstGeom prst="rect">
            <a:avLst/>
          </a:prstGeom>
        </p:spPr>
        <p:txBody>
          <a:bodyPr lIns="0" tIns="0" rIns="0" bIns="0" rtlCol="0" anchor="t">
            <a:spAutoFit/>
          </a:bodyPr>
          <a:lstStyle/>
          <a:p>
            <a:pPr algn="l">
              <a:lnSpc>
                <a:spcPts val="7150"/>
              </a:lnSpc>
            </a:pPr>
            <a:r>
              <a:rPr lang="en-US" sz="6500" b="1" dirty="0">
                <a:solidFill>
                  <a:srgbClr val="034383"/>
                </a:solidFill>
                <a:latin typeface="Times New Roman" panose="02020603050405020304" pitchFamily="18" charset="0"/>
                <a:ea typeface="Ubuntu Bold"/>
                <a:cs typeface="Times New Roman" panose="02020603050405020304" pitchFamily="18" charset="0"/>
                <a:sym typeface="Ubuntu Bold"/>
              </a:rPr>
              <a:t>MODULES OF THE PROJECT</a:t>
            </a:r>
          </a:p>
        </p:txBody>
      </p:sp>
      <p:sp>
        <p:nvSpPr>
          <p:cNvPr id="10" name="Freeform 10"/>
          <p:cNvSpPr/>
          <p:nvPr/>
        </p:nvSpPr>
        <p:spPr>
          <a:xfrm>
            <a:off x="8001000" y="2857500"/>
            <a:ext cx="7787682" cy="5564685"/>
          </a:xfrm>
          <a:custGeom>
            <a:avLst/>
            <a:gdLst/>
            <a:ahLst/>
            <a:cxnLst/>
            <a:rect l="l" t="t" r="r" b="b"/>
            <a:pathLst>
              <a:path w="7787682" h="5564685">
                <a:moveTo>
                  <a:pt x="0" y="0"/>
                </a:moveTo>
                <a:lnTo>
                  <a:pt x="7787682" y="0"/>
                </a:lnTo>
                <a:lnTo>
                  <a:pt x="7787682" y="5564685"/>
                </a:lnTo>
                <a:lnTo>
                  <a:pt x="0" y="5564685"/>
                </a:lnTo>
                <a:lnTo>
                  <a:pt x="0" y="0"/>
                </a:lnTo>
                <a:close/>
              </a:path>
            </a:pathLst>
          </a:custGeom>
          <a:blipFill>
            <a:blip r:embed="rId2"/>
            <a:stretch>
              <a:fillRect l="-13337" r="-13655"/>
            </a:stretch>
          </a:blipFill>
        </p:spPr>
        <p:txBody>
          <a:bodyPr/>
          <a:lstStyle/>
          <a:p>
            <a:endParaRPr lang="en-CA" dirty="0"/>
          </a:p>
        </p:txBody>
      </p:sp>
      <p:sp>
        <p:nvSpPr>
          <p:cNvPr id="11" name="TextBox 11"/>
          <p:cNvSpPr txBox="1"/>
          <p:nvPr/>
        </p:nvSpPr>
        <p:spPr>
          <a:xfrm>
            <a:off x="1828800" y="1620377"/>
            <a:ext cx="6517592" cy="8824532"/>
          </a:xfrm>
          <a:prstGeom prst="rect">
            <a:avLst/>
          </a:prstGeom>
        </p:spPr>
        <p:txBody>
          <a:bodyPr wrap="square" lIns="0" tIns="0" rIns="0" bIns="0" rtlCol="0" anchor="t">
            <a:spAutoFit/>
          </a:bodyPr>
          <a:lstStyle/>
          <a:p>
            <a:pPr>
              <a:lnSpc>
                <a:spcPts val="6995"/>
              </a:lnSpc>
            </a:pPr>
            <a:r>
              <a:rPr lang="en-US" sz="2400" b="1" dirty="0">
                <a:solidFill>
                  <a:srgbClr val="0D1D29"/>
                </a:solidFill>
                <a:latin typeface="Open Sans Bold"/>
                <a:ea typeface="Open Sans Bold"/>
                <a:cs typeface="Open Sans Bold"/>
                <a:sym typeface="Open Sans Bold"/>
              </a:rPr>
              <a:t>1.</a:t>
            </a:r>
            <a:r>
              <a:rPr lang="en-CA" sz="2400" dirty="0"/>
              <a:t> </a:t>
            </a:r>
            <a:r>
              <a:rPr lang="en-CA" sz="2400" b="1" dirty="0">
                <a:latin typeface="Times New Roman" panose="02020603050405020304" pitchFamily="18" charset="0"/>
                <a:cs typeface="Times New Roman" panose="02020603050405020304" pitchFamily="18" charset="0"/>
              </a:rPr>
              <a:t>Login &amp; Authentication Module</a:t>
            </a:r>
            <a:endParaRPr lang="en-US" sz="2400" b="1" dirty="0">
              <a:solidFill>
                <a:srgbClr val="0D1D29"/>
              </a:solidFill>
              <a:latin typeface="Times New Roman" panose="02020603050405020304" pitchFamily="18" charset="0"/>
              <a:ea typeface="Open Sans Bold"/>
              <a:cs typeface="Times New Roman" panose="02020603050405020304" pitchFamily="18" charset="0"/>
              <a:sym typeface="Open Sans Bold"/>
            </a:endParaRPr>
          </a:p>
          <a:p>
            <a:pPr>
              <a:lnSpc>
                <a:spcPts val="6995"/>
              </a:lnSpc>
            </a:pPr>
            <a:r>
              <a:rPr lang="en-US" sz="2400" b="1" dirty="0">
                <a:solidFill>
                  <a:srgbClr val="0D1D29"/>
                </a:solidFill>
                <a:latin typeface="Open Sans Bold"/>
                <a:ea typeface="Open Sans Bold"/>
                <a:cs typeface="Open Sans Bold"/>
                <a:sym typeface="Open Sans Bold"/>
              </a:rPr>
              <a:t>2</a:t>
            </a:r>
            <a:r>
              <a:rPr lang="en-US" sz="4996" b="1" dirty="0">
                <a:solidFill>
                  <a:srgbClr val="0D1D29"/>
                </a:solidFill>
                <a:latin typeface="Open Sans Bold"/>
                <a:ea typeface="Open Sans Bold"/>
                <a:cs typeface="Open Sans Bold"/>
                <a:sym typeface="Open Sans Bold"/>
              </a:rPr>
              <a:t> </a:t>
            </a:r>
            <a:r>
              <a:rPr lang="en-CA" sz="2400" b="1" dirty="0">
                <a:latin typeface="Times New Roman" panose="02020603050405020304" pitchFamily="18" charset="0"/>
                <a:cs typeface="Times New Roman" panose="02020603050405020304" pitchFamily="18" charset="0"/>
              </a:rPr>
              <a:t>Data Loading &amp; Preprocessing Module</a:t>
            </a:r>
            <a:endParaRPr lang="en-US" sz="2400" b="1" dirty="0">
              <a:solidFill>
                <a:srgbClr val="0D1D29"/>
              </a:solidFill>
              <a:latin typeface="Times New Roman" panose="02020603050405020304" pitchFamily="18" charset="0"/>
              <a:ea typeface="Open Sans Bold"/>
              <a:cs typeface="Times New Roman" panose="02020603050405020304" pitchFamily="18" charset="0"/>
              <a:sym typeface="Open Sans Bold"/>
            </a:endParaRPr>
          </a:p>
          <a:p>
            <a:pPr>
              <a:lnSpc>
                <a:spcPts val="6995"/>
              </a:lnSpc>
            </a:pPr>
            <a:r>
              <a:rPr lang="en-US" sz="2400" b="1" dirty="0">
                <a:solidFill>
                  <a:srgbClr val="0D1D29"/>
                </a:solidFill>
                <a:latin typeface="Times New Roman" panose="02020603050405020304" pitchFamily="18" charset="0"/>
                <a:ea typeface="Open Sans Bold"/>
                <a:cs typeface="Times New Roman" panose="02020603050405020304" pitchFamily="18" charset="0"/>
                <a:sym typeface="Open Sans Bold"/>
              </a:rPr>
              <a:t>3. </a:t>
            </a:r>
            <a:r>
              <a:rPr lang="en-CA" sz="2400" b="1" dirty="0">
                <a:latin typeface="Times New Roman" panose="02020603050405020304" pitchFamily="18" charset="0"/>
                <a:cs typeface="Times New Roman" panose="02020603050405020304" pitchFamily="18" charset="0"/>
              </a:rPr>
              <a:t>Filter &amp; Selection Module</a:t>
            </a:r>
            <a:endParaRPr lang="en-US" sz="2400" b="1" dirty="0">
              <a:solidFill>
                <a:srgbClr val="0D1D29"/>
              </a:solidFill>
              <a:latin typeface="Times New Roman" panose="02020603050405020304" pitchFamily="18" charset="0"/>
              <a:ea typeface="Open Sans Bold"/>
              <a:cs typeface="Times New Roman" panose="02020603050405020304" pitchFamily="18" charset="0"/>
              <a:sym typeface="Open Sans Bold"/>
            </a:endParaRPr>
          </a:p>
          <a:p>
            <a:pPr>
              <a:lnSpc>
                <a:spcPts val="6995"/>
              </a:lnSpc>
            </a:pPr>
            <a:r>
              <a:rPr lang="en-US" sz="2400" b="1" dirty="0">
                <a:solidFill>
                  <a:srgbClr val="0D1D29"/>
                </a:solidFill>
                <a:latin typeface="Times New Roman" panose="02020603050405020304" pitchFamily="18" charset="0"/>
                <a:ea typeface="Open Sans Bold"/>
                <a:cs typeface="Times New Roman" panose="02020603050405020304" pitchFamily="18" charset="0"/>
                <a:sym typeface="Open Sans Bold"/>
              </a:rPr>
              <a:t>4. </a:t>
            </a:r>
            <a:r>
              <a:rPr lang="en-CA" sz="2400" b="1" dirty="0">
                <a:latin typeface="Times New Roman" panose="02020603050405020304" pitchFamily="18" charset="0"/>
                <a:cs typeface="Times New Roman" panose="02020603050405020304" pitchFamily="18" charset="0"/>
              </a:rPr>
              <a:t>Visualization Module</a:t>
            </a:r>
            <a:endParaRPr lang="en-US" sz="2400" b="1" dirty="0">
              <a:solidFill>
                <a:srgbClr val="0D1D29"/>
              </a:solidFill>
              <a:latin typeface="Times New Roman" panose="02020603050405020304" pitchFamily="18" charset="0"/>
              <a:ea typeface="Open Sans Bold"/>
              <a:cs typeface="Times New Roman" panose="02020603050405020304" pitchFamily="18" charset="0"/>
              <a:sym typeface="Open Sans Bold"/>
            </a:endParaRPr>
          </a:p>
          <a:p>
            <a:pPr>
              <a:lnSpc>
                <a:spcPts val="6995"/>
              </a:lnSpc>
            </a:pPr>
            <a:r>
              <a:rPr lang="en-US" sz="2400" b="1" dirty="0">
                <a:solidFill>
                  <a:srgbClr val="0D1D29"/>
                </a:solidFill>
                <a:latin typeface="Times New Roman" panose="02020603050405020304" pitchFamily="18" charset="0"/>
                <a:ea typeface="Open Sans Bold"/>
                <a:cs typeface="Times New Roman" panose="02020603050405020304" pitchFamily="18" charset="0"/>
                <a:sym typeface="Open Sans Bold"/>
              </a:rPr>
              <a:t>5. </a:t>
            </a:r>
            <a:r>
              <a:rPr lang="en-CA" sz="2400" b="1" dirty="0">
                <a:latin typeface="Times New Roman" panose="02020603050405020304" pitchFamily="18" charset="0"/>
                <a:cs typeface="Times New Roman" panose="02020603050405020304" pitchFamily="18" charset="0"/>
              </a:rPr>
              <a:t>Accident Mapping Module</a:t>
            </a:r>
            <a:endParaRPr lang="en-US" sz="2400" b="1" dirty="0">
              <a:solidFill>
                <a:srgbClr val="0D1D29"/>
              </a:solidFill>
              <a:latin typeface="Times New Roman" panose="02020603050405020304" pitchFamily="18" charset="0"/>
              <a:ea typeface="Open Sans Bold"/>
              <a:cs typeface="Times New Roman" panose="02020603050405020304" pitchFamily="18" charset="0"/>
              <a:sym typeface="Open Sans Bold"/>
            </a:endParaRPr>
          </a:p>
          <a:p>
            <a:pPr>
              <a:lnSpc>
                <a:spcPts val="6995"/>
              </a:lnSpc>
            </a:pPr>
            <a:r>
              <a:rPr lang="en-US" sz="2400" b="1" dirty="0">
                <a:solidFill>
                  <a:srgbClr val="0D1D29"/>
                </a:solidFill>
                <a:latin typeface="Times New Roman" panose="02020603050405020304" pitchFamily="18" charset="0"/>
                <a:ea typeface="Open Sans Bold"/>
                <a:cs typeface="Times New Roman" panose="02020603050405020304" pitchFamily="18" charset="0"/>
                <a:sym typeface="Open Sans Bold"/>
              </a:rPr>
              <a:t>6. </a:t>
            </a:r>
            <a:r>
              <a:rPr lang="en-CA" sz="2400" b="1" dirty="0">
                <a:latin typeface="Times New Roman" panose="02020603050405020304" pitchFamily="18" charset="0"/>
                <a:cs typeface="Times New Roman" panose="02020603050405020304" pitchFamily="18" charset="0"/>
              </a:rPr>
              <a:t>City-Specific Insights Module</a:t>
            </a:r>
          </a:p>
          <a:p>
            <a:pPr>
              <a:lnSpc>
                <a:spcPts val="6995"/>
              </a:lnSpc>
            </a:pPr>
            <a:r>
              <a:rPr lang="en-US" sz="2400" b="1" dirty="0">
                <a:solidFill>
                  <a:srgbClr val="0D1D29"/>
                </a:solidFill>
                <a:latin typeface="Times New Roman" panose="02020603050405020304" pitchFamily="18" charset="0"/>
                <a:ea typeface="Open Sans Bold"/>
                <a:cs typeface="Times New Roman" panose="02020603050405020304" pitchFamily="18" charset="0"/>
                <a:sym typeface="Open Sans Bold"/>
              </a:rPr>
              <a:t>7.</a:t>
            </a:r>
            <a:r>
              <a:rPr lang="en-CA" sz="2400" b="1" dirty="0">
                <a:latin typeface="Times New Roman" panose="02020603050405020304" pitchFamily="18" charset="0"/>
                <a:cs typeface="Times New Roman" panose="02020603050405020304" pitchFamily="18" charset="0"/>
              </a:rPr>
              <a:t> Comparative Analysis Module</a:t>
            </a:r>
          </a:p>
          <a:p>
            <a:pPr>
              <a:lnSpc>
                <a:spcPts val="6995"/>
              </a:lnSpc>
            </a:pPr>
            <a:r>
              <a:rPr lang="en-CA" sz="2400" b="1" dirty="0">
                <a:latin typeface="Times New Roman" panose="02020603050405020304" pitchFamily="18" charset="0"/>
                <a:cs typeface="Times New Roman" panose="02020603050405020304" pitchFamily="18" charset="0"/>
              </a:rPr>
              <a:t>8. Predictive Analysis Module</a:t>
            </a:r>
          </a:p>
          <a:p>
            <a:pPr>
              <a:lnSpc>
                <a:spcPts val="6995"/>
              </a:lnSpc>
            </a:pPr>
            <a:r>
              <a:rPr lang="en-CA" sz="2400" b="1" dirty="0">
                <a:latin typeface="Times New Roman" panose="02020603050405020304" pitchFamily="18" charset="0"/>
                <a:cs typeface="Times New Roman" panose="02020603050405020304" pitchFamily="18" charset="0"/>
              </a:rPr>
              <a:t>9. Report Generation &amp; Download Module</a:t>
            </a:r>
          </a:p>
          <a:p>
            <a:pPr>
              <a:lnSpc>
                <a:spcPts val="6995"/>
              </a:lnSpc>
            </a:pPr>
            <a:endParaRPr lang="en-US" sz="2400" b="1" dirty="0">
              <a:solidFill>
                <a:srgbClr val="0D1D29"/>
              </a:solidFill>
              <a:latin typeface="Times New Roman" panose="02020603050405020304" pitchFamily="18" charset="0"/>
              <a:ea typeface="Open Sans Bold"/>
              <a:cs typeface="Times New Roman" panose="02020603050405020304" pitchFamily="18" charset="0"/>
              <a:sym typeface="Open Sans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92127" y="1618283"/>
            <a:ext cx="15702433" cy="1015663"/>
          </a:xfrm>
          <a:prstGeom prst="rect">
            <a:avLst/>
          </a:prstGeom>
        </p:spPr>
        <p:txBody>
          <a:bodyPr lIns="0" tIns="0" rIns="0" bIns="0" rtlCol="0" anchor="t">
            <a:spAutoFit/>
          </a:bodyPr>
          <a:lstStyle/>
          <a:p>
            <a:r>
              <a:rPr lang="en-IN" sz="6600" b="1" dirty="0">
                <a:solidFill>
                  <a:schemeClr val="tx2"/>
                </a:solidFill>
                <a:latin typeface="Times New Roman" panose="02020603050405020304" pitchFamily="18" charset="0"/>
                <a:cs typeface="Times New Roman" panose="02020603050405020304" pitchFamily="18" charset="0"/>
              </a:rPr>
              <a:t>System architecture diagram</a:t>
            </a:r>
            <a:endParaRPr lang="en-CA" sz="6600" dirty="0">
              <a:solidFill>
                <a:schemeClr val="tx2"/>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735F346-D371-8E87-E832-B61A56F6C8D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669588"/>
            <a:ext cx="13008533" cy="621695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0" y="571500"/>
            <a:ext cx="4004167" cy="1846659"/>
          </a:xfrm>
          <a:prstGeom prst="rect">
            <a:avLst/>
          </a:prstGeom>
        </p:spPr>
        <p:txBody>
          <a:bodyPr lIns="0" tIns="0" rIns="0" bIns="0" rtlCol="0" anchor="t">
            <a:spAutoFit/>
          </a:bodyPr>
          <a:lstStyle/>
          <a:p>
            <a:pPr algn="l">
              <a:lnSpc>
                <a:spcPts val="7150"/>
              </a:lnSpc>
            </a:pPr>
            <a:r>
              <a:rPr lang="en-US" sz="6500" b="1" dirty="0">
                <a:solidFill>
                  <a:srgbClr val="034383"/>
                </a:solidFill>
                <a:latin typeface="Times New Roman" panose="02020603050405020304" pitchFamily="18" charset="0"/>
                <a:ea typeface="Ubuntu Bold"/>
                <a:cs typeface="Times New Roman" panose="02020603050405020304" pitchFamily="18" charset="0"/>
                <a:sym typeface="Ubuntu Bold"/>
              </a:rPr>
              <a:t>UML Diagram</a:t>
            </a:r>
          </a:p>
        </p:txBody>
      </p:sp>
      <p:pic>
        <p:nvPicPr>
          <p:cNvPr id="11" name="Picture 10">
            <a:extLst>
              <a:ext uri="{FF2B5EF4-FFF2-40B4-BE49-F238E27FC236}">
                <a16:creationId xmlns:a16="http://schemas.microsoft.com/office/drawing/2014/main" id="{448196E8-2CF8-6235-29AA-C80A31E49BBC}"/>
              </a:ext>
            </a:extLst>
          </p:cNvPr>
          <p:cNvPicPr>
            <a:picLocks noChangeAspect="1"/>
          </p:cNvPicPr>
          <p:nvPr/>
        </p:nvPicPr>
        <p:blipFill>
          <a:blip r:embed="rId2"/>
          <a:stretch>
            <a:fillRect/>
          </a:stretch>
        </p:blipFill>
        <p:spPr>
          <a:xfrm>
            <a:off x="5334000" y="1104900"/>
            <a:ext cx="8298180" cy="7239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txBox="1"/>
          <p:nvPr/>
        </p:nvSpPr>
        <p:spPr>
          <a:xfrm>
            <a:off x="2667000" y="691618"/>
            <a:ext cx="10407258" cy="923330"/>
          </a:xfrm>
          <a:prstGeom prst="rect">
            <a:avLst/>
          </a:prstGeom>
        </p:spPr>
        <p:txBody>
          <a:bodyPr wrap="square" lIns="0" tIns="0" rIns="0" bIns="0" rtlCol="0" anchor="t">
            <a:spAutoFit/>
          </a:bodyPr>
          <a:lstStyle/>
          <a:p>
            <a:pPr algn="l">
              <a:lnSpc>
                <a:spcPts val="7150"/>
              </a:lnSpc>
            </a:pPr>
            <a:r>
              <a:rPr lang="en-US" sz="6500" b="1" dirty="0">
                <a:solidFill>
                  <a:srgbClr val="034383"/>
                </a:solidFill>
                <a:latin typeface="Times New Roman" panose="02020603050405020304" pitchFamily="18" charset="0"/>
                <a:ea typeface="Ubuntu Bold"/>
                <a:cs typeface="Times New Roman" panose="02020603050405020304" pitchFamily="18" charset="0"/>
                <a:sym typeface="Ubuntu Bold"/>
              </a:rPr>
              <a:t>WORK FLOW DIAGRAM</a:t>
            </a:r>
          </a:p>
        </p:txBody>
      </p:sp>
      <p:pic>
        <p:nvPicPr>
          <p:cNvPr id="11" name="Picture 10">
            <a:extLst>
              <a:ext uri="{FF2B5EF4-FFF2-40B4-BE49-F238E27FC236}">
                <a16:creationId xmlns:a16="http://schemas.microsoft.com/office/drawing/2014/main" id="{480AC3DF-1D5E-7895-DF57-67FED9717B28}"/>
              </a:ext>
            </a:extLst>
          </p:cNvPr>
          <p:cNvPicPr>
            <a:picLocks noChangeAspect="1"/>
          </p:cNvPicPr>
          <p:nvPr/>
        </p:nvPicPr>
        <p:blipFill>
          <a:blip r:embed="rId2"/>
          <a:stretch>
            <a:fillRect/>
          </a:stretch>
        </p:blipFill>
        <p:spPr>
          <a:xfrm>
            <a:off x="3352800" y="2247900"/>
            <a:ext cx="9344604" cy="6172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09800" y="1213932"/>
            <a:ext cx="15702433" cy="949325"/>
          </a:xfrm>
          <a:prstGeom prst="rect">
            <a:avLst/>
          </a:prstGeom>
        </p:spPr>
        <p:txBody>
          <a:bodyPr lIns="0" tIns="0" rIns="0" bIns="0" rtlCol="0" anchor="t">
            <a:spAutoFit/>
          </a:bodyPr>
          <a:lstStyle/>
          <a:p>
            <a:pPr algn="l">
              <a:lnSpc>
                <a:spcPts val="7150"/>
              </a:lnSpc>
            </a:pPr>
            <a:r>
              <a:rPr lang="en-US" sz="6500" b="1" dirty="0">
                <a:solidFill>
                  <a:srgbClr val="034383"/>
                </a:solidFill>
                <a:latin typeface="Times New Roman" panose="02020603050405020304" pitchFamily="18" charset="0"/>
                <a:ea typeface="Ubuntu Bold"/>
                <a:cs typeface="Times New Roman" panose="02020603050405020304" pitchFamily="18" charset="0"/>
                <a:sym typeface="Ubuntu Bold"/>
              </a:rPr>
              <a:t>METHODOLOGY </a:t>
            </a:r>
          </a:p>
        </p:txBody>
      </p:sp>
      <p:sp>
        <p:nvSpPr>
          <p:cNvPr id="11" name="TextBox 11"/>
          <p:cNvSpPr txBox="1"/>
          <p:nvPr/>
        </p:nvSpPr>
        <p:spPr>
          <a:xfrm>
            <a:off x="1494319" y="2381892"/>
            <a:ext cx="10251916" cy="7753597"/>
          </a:xfrm>
          <a:prstGeom prst="rect">
            <a:avLst/>
          </a:prstGeom>
        </p:spPr>
        <p:txBody>
          <a:bodyPr wrap="square" lIns="0" tIns="0" rIns="0" bIns="0" rtlCol="0" anchor="t">
            <a:spAutoFit/>
          </a:bodyPr>
          <a:lstStyle/>
          <a:p>
            <a:pPr lvl="0" eaLnBrk="0" fontAlgn="base" hangingPunct="0">
              <a:spcBef>
                <a:spcPct val="0"/>
              </a:spcBef>
              <a:spcAft>
                <a:spcPct val="0"/>
              </a:spcAft>
              <a:buFontTx/>
              <a:buChar char="•"/>
            </a:pPr>
            <a:r>
              <a:rPr lang="en-US" altLang="en-US" sz="3600" b="1" dirty="0">
                <a:latin typeface="Times New Roman" panose="02020603050405020304" pitchFamily="18" charset="0"/>
                <a:cs typeface="Times New Roman" panose="02020603050405020304" pitchFamily="18" charset="0"/>
              </a:rPr>
              <a:t>Requirement Analysis:</a:t>
            </a:r>
            <a:r>
              <a:rPr lang="en-US" altLang="en-US" sz="3600" dirty="0">
                <a:latin typeface="Times New Roman" panose="02020603050405020304" pitchFamily="18" charset="0"/>
                <a:cs typeface="Times New Roman" panose="02020603050405020304" pitchFamily="18" charset="0"/>
              </a:rPr>
              <a:t> Identify goals, key metrics, and dashboard features.</a:t>
            </a:r>
          </a:p>
          <a:p>
            <a:pPr lvl="0" eaLnBrk="0" fontAlgn="base" hangingPunct="0">
              <a:spcBef>
                <a:spcPct val="0"/>
              </a:spcBef>
              <a:spcAft>
                <a:spcPct val="0"/>
              </a:spcAft>
              <a:buFontTx/>
              <a:buChar char="•"/>
            </a:pPr>
            <a:r>
              <a:rPr lang="en-US" altLang="en-US" sz="3600" b="1" dirty="0">
                <a:latin typeface="Times New Roman" panose="02020603050405020304" pitchFamily="18" charset="0"/>
                <a:cs typeface="Times New Roman" panose="02020603050405020304" pitchFamily="18" charset="0"/>
              </a:rPr>
              <a:t>Data Collection:</a:t>
            </a:r>
            <a:r>
              <a:rPr lang="en-US" altLang="en-US" sz="3600" dirty="0">
                <a:latin typeface="Times New Roman" panose="02020603050405020304" pitchFamily="18" charset="0"/>
                <a:cs typeface="Times New Roman" panose="02020603050405020304" pitchFamily="18" charset="0"/>
              </a:rPr>
              <a:t> Gather Karnataka accident data (2021–2025) with all relevant details.</a:t>
            </a:r>
          </a:p>
          <a:p>
            <a:pPr lvl="0" eaLnBrk="0" fontAlgn="base" hangingPunct="0">
              <a:spcBef>
                <a:spcPct val="0"/>
              </a:spcBef>
              <a:spcAft>
                <a:spcPct val="0"/>
              </a:spcAft>
              <a:buFontTx/>
              <a:buChar char="•"/>
            </a:pPr>
            <a:r>
              <a:rPr lang="en-US" altLang="en-US" sz="3600" b="1" dirty="0">
                <a:latin typeface="Times New Roman" panose="02020603050405020304" pitchFamily="18" charset="0"/>
                <a:cs typeface="Times New Roman" panose="02020603050405020304" pitchFamily="18" charset="0"/>
              </a:rPr>
              <a:t>Data Cleaning &amp; Preprocessing:</a:t>
            </a:r>
            <a:r>
              <a:rPr lang="en-US" altLang="en-US" sz="3600" dirty="0">
                <a:latin typeface="Times New Roman" panose="02020603050405020304" pitchFamily="18" charset="0"/>
                <a:cs typeface="Times New Roman" panose="02020603050405020304" pitchFamily="18" charset="0"/>
              </a:rPr>
              <a:t> Handle missing values and create derived features.</a:t>
            </a:r>
          </a:p>
          <a:p>
            <a:pPr lvl="0" eaLnBrk="0" fontAlgn="base" hangingPunct="0">
              <a:spcBef>
                <a:spcPct val="0"/>
              </a:spcBef>
              <a:spcAft>
                <a:spcPct val="0"/>
              </a:spcAft>
              <a:buFontTx/>
              <a:buChar char="•"/>
            </a:pPr>
            <a:r>
              <a:rPr lang="en-US" altLang="en-US" sz="3600" b="1" dirty="0">
                <a:latin typeface="Times New Roman" panose="02020603050405020304" pitchFamily="18" charset="0"/>
                <a:cs typeface="Times New Roman" panose="02020603050405020304" pitchFamily="18" charset="0"/>
              </a:rPr>
              <a:t>Visualization &amp; Mapping:</a:t>
            </a:r>
            <a:r>
              <a:rPr lang="en-US" altLang="en-US" sz="3600" dirty="0">
                <a:latin typeface="Times New Roman" panose="02020603050405020304" pitchFamily="18" charset="0"/>
                <a:cs typeface="Times New Roman" panose="02020603050405020304" pitchFamily="18" charset="0"/>
              </a:rPr>
              <a:t> Interactive charts and maps for trends, severity, and hotspots.</a:t>
            </a:r>
          </a:p>
          <a:p>
            <a:pPr lvl="0" eaLnBrk="0" fontAlgn="base" hangingPunct="0">
              <a:spcBef>
                <a:spcPct val="0"/>
              </a:spcBef>
              <a:spcAft>
                <a:spcPct val="0"/>
              </a:spcAft>
              <a:buFontTx/>
              <a:buChar char="•"/>
            </a:pPr>
            <a:r>
              <a:rPr lang="en-US" altLang="en-US" sz="3600" b="1" dirty="0">
                <a:latin typeface="Times New Roman" panose="02020603050405020304" pitchFamily="18" charset="0"/>
                <a:cs typeface="Times New Roman" panose="02020603050405020304" pitchFamily="18" charset="0"/>
              </a:rPr>
              <a:t>City-Specific Insights &amp; Recommendations:</a:t>
            </a:r>
            <a:r>
              <a:rPr lang="en-US" altLang="en-US" sz="3600" dirty="0">
                <a:latin typeface="Times New Roman" panose="02020603050405020304" pitchFamily="18" charset="0"/>
                <a:cs typeface="Times New Roman" panose="02020603050405020304" pitchFamily="18" charset="0"/>
              </a:rPr>
              <a:t> Highlight risk factors and suggest preventive measures.</a:t>
            </a:r>
          </a:p>
          <a:p>
            <a:pPr lvl="0" eaLnBrk="0" fontAlgn="base" hangingPunct="0">
              <a:spcBef>
                <a:spcPct val="0"/>
              </a:spcBef>
              <a:spcAft>
                <a:spcPct val="0"/>
              </a:spcAft>
              <a:buFontTx/>
              <a:buChar char="•"/>
            </a:pPr>
            <a:r>
              <a:rPr lang="en-US" altLang="en-US" sz="3600" b="1" dirty="0">
                <a:latin typeface="Times New Roman" panose="02020603050405020304" pitchFamily="18" charset="0"/>
                <a:cs typeface="Times New Roman" panose="02020603050405020304" pitchFamily="18" charset="0"/>
              </a:rPr>
              <a:t>Predictive Analysis &amp; Reporting:</a:t>
            </a:r>
            <a:r>
              <a:rPr lang="en-US" altLang="en-US" sz="3600" dirty="0">
                <a:latin typeface="Times New Roman" panose="02020603050405020304" pitchFamily="18" charset="0"/>
                <a:cs typeface="Times New Roman" panose="02020603050405020304" pitchFamily="18" charset="0"/>
              </a:rPr>
              <a:t> Forecast trends using Linear Regression and generate PDF/CSV reports.</a:t>
            </a:r>
          </a:p>
          <a:p>
            <a:pPr algn="l">
              <a:lnSpc>
                <a:spcPts val="4619"/>
              </a:lnSpc>
            </a:pPr>
            <a:endParaRPr lang="en-US" sz="3299" dirty="0">
              <a:solidFill>
                <a:srgbClr val="000000"/>
              </a:solidFill>
              <a:latin typeface="Canva Sans"/>
              <a:ea typeface="Canva Sans"/>
              <a:cs typeface="Canva Sans"/>
              <a:sym typeface="Canva Sans"/>
            </a:endParaRPr>
          </a:p>
        </p:txBody>
      </p:sp>
      <p:sp>
        <p:nvSpPr>
          <p:cNvPr id="12" name="Rectangle 1">
            <a:extLst>
              <a:ext uri="{FF2B5EF4-FFF2-40B4-BE49-F238E27FC236}">
                <a16:creationId xmlns:a16="http://schemas.microsoft.com/office/drawing/2014/main" id="{172B48E6-B2B3-A070-FAE2-0F212121490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13CBA-D9D2-5599-575D-BCF8F780500B}"/>
              </a:ext>
            </a:extLst>
          </p:cNvPr>
          <p:cNvSpPr>
            <a:spLocks noGrp="1"/>
          </p:cNvSpPr>
          <p:nvPr>
            <p:ph type="ctrTitle"/>
          </p:nvPr>
        </p:nvSpPr>
        <p:spPr>
          <a:xfrm>
            <a:off x="-304800" y="266701"/>
            <a:ext cx="13335000" cy="1295400"/>
          </a:xfrm>
        </p:spPr>
        <p:txBody>
          <a:bodyPr/>
          <a:lstStyle/>
          <a:p>
            <a:r>
              <a:rPr lang="en-US" sz="6600" b="1" dirty="0">
                <a:solidFill>
                  <a:schemeClr val="tx2"/>
                </a:solidFill>
                <a:latin typeface="Times New Roman" panose="02020603050405020304" pitchFamily="18" charset="0"/>
                <a:cs typeface="Times New Roman" panose="02020603050405020304" pitchFamily="18" charset="0"/>
              </a:rPr>
              <a:t>RESULTS AND DISCUSSIONS</a:t>
            </a:r>
            <a:endParaRPr lang="en-CA" sz="6600" b="1" dirty="0">
              <a:solidFill>
                <a:schemeClr val="tx2"/>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F680BEA-98BD-4BD8-B9B1-38D4C91C65DB}"/>
              </a:ext>
            </a:extLst>
          </p:cNvPr>
          <p:cNvSpPr>
            <a:spLocks noGrp="1" noChangeArrowheads="1"/>
          </p:cNvSpPr>
          <p:nvPr>
            <p:ph type="subTitle" idx="1"/>
          </p:nvPr>
        </p:nvSpPr>
        <p:spPr bwMode="auto">
          <a:xfrm>
            <a:off x="1447800" y="2002930"/>
            <a:ext cx="141732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Accident Overview:</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Total accidents, fatal &amp; severe accidents, average casualties.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Yearly &amp; Severity Trends: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Bar charts showing trends over years; severity distribution (Minor, Moderate, Severe, Fatal).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Accident Mapping: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Interactive markers, clusters, and heatmaps to identify accident hotspots.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Weather, Road &amp; Vehicle Analysis: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Correlation of accidents with weather, road types, and vehicle types.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 &amp; Day Analysis: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Peak accident hours (morning/evening) and high-risk days of the week.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City-Specific Insights: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Top contributing weather, road, and vehicle types; suggested safety measures.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Analysis: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Linear Regression forecast for next year’s accidents to support proactive planning.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Discussion: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Dashboard enables interactive exploration, identifies trends, assists policymakers; predictions are based on historical data and may not account for sudden changes.</a:t>
            </a:r>
          </a:p>
        </p:txBody>
      </p:sp>
    </p:spTree>
    <p:extLst>
      <p:ext uri="{BB962C8B-B14F-4D97-AF65-F5344CB8AC3E}">
        <p14:creationId xmlns:p14="http://schemas.microsoft.com/office/powerpoint/2010/main" val="2932678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810000" y="381202"/>
            <a:ext cx="15702433" cy="949325"/>
          </a:xfrm>
          <a:prstGeom prst="rect">
            <a:avLst/>
          </a:prstGeom>
        </p:spPr>
        <p:txBody>
          <a:bodyPr lIns="0" tIns="0" rIns="0" bIns="0" rtlCol="0" anchor="t">
            <a:spAutoFit/>
          </a:bodyPr>
          <a:lstStyle/>
          <a:p>
            <a:pPr algn="l">
              <a:lnSpc>
                <a:spcPts val="7150"/>
              </a:lnSpc>
            </a:pPr>
            <a:r>
              <a:rPr lang="en-US" sz="6500" b="1" dirty="0">
                <a:solidFill>
                  <a:srgbClr val="034383"/>
                </a:solidFill>
                <a:latin typeface="Times New Roman" panose="02020603050405020304" pitchFamily="18" charset="0"/>
                <a:ea typeface="Ubuntu Bold"/>
                <a:cs typeface="Times New Roman" panose="02020603050405020304" pitchFamily="18" charset="0"/>
                <a:sym typeface="Ubuntu Bold"/>
              </a:rPr>
              <a:t>LOGIN  PAGE</a:t>
            </a:r>
          </a:p>
        </p:txBody>
      </p:sp>
      <p:pic>
        <p:nvPicPr>
          <p:cNvPr id="12" name="Picture 11">
            <a:extLst>
              <a:ext uri="{FF2B5EF4-FFF2-40B4-BE49-F238E27FC236}">
                <a16:creationId xmlns:a16="http://schemas.microsoft.com/office/drawing/2014/main" id="{8379FBF0-4288-8952-183C-E58581B95E62}"/>
              </a:ext>
            </a:extLst>
          </p:cNvPr>
          <p:cNvPicPr>
            <a:picLocks noChangeAspect="1"/>
          </p:cNvPicPr>
          <p:nvPr/>
        </p:nvPicPr>
        <p:blipFill>
          <a:blip r:embed="rId2"/>
          <a:stretch>
            <a:fillRect/>
          </a:stretch>
        </p:blipFill>
        <p:spPr>
          <a:xfrm>
            <a:off x="1143000" y="1714500"/>
            <a:ext cx="13223149" cy="743802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62400" y="600765"/>
            <a:ext cx="15702433" cy="949325"/>
          </a:xfrm>
          <a:prstGeom prst="rect">
            <a:avLst/>
          </a:prstGeom>
        </p:spPr>
        <p:txBody>
          <a:bodyPr lIns="0" tIns="0" rIns="0" bIns="0" rtlCol="0" anchor="t">
            <a:spAutoFit/>
          </a:bodyPr>
          <a:lstStyle/>
          <a:p>
            <a:pPr algn="l">
              <a:lnSpc>
                <a:spcPts val="7150"/>
              </a:lnSpc>
            </a:pPr>
            <a:r>
              <a:rPr lang="en-US" sz="6500" b="1" dirty="0">
                <a:solidFill>
                  <a:srgbClr val="034383"/>
                </a:solidFill>
                <a:latin typeface="Ubuntu Bold"/>
                <a:ea typeface="Ubuntu Bold"/>
                <a:cs typeface="Ubuntu Bold"/>
                <a:sym typeface="Ubuntu Bold"/>
              </a:rPr>
              <a:t>DASHBOARD</a:t>
            </a:r>
          </a:p>
        </p:txBody>
      </p:sp>
      <p:pic>
        <p:nvPicPr>
          <p:cNvPr id="33" name="Picture 32">
            <a:extLst>
              <a:ext uri="{FF2B5EF4-FFF2-40B4-BE49-F238E27FC236}">
                <a16:creationId xmlns:a16="http://schemas.microsoft.com/office/drawing/2014/main" id="{60107862-7530-008D-5B61-6156A681B1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391" y="2480450"/>
            <a:ext cx="7859222" cy="6430272"/>
          </a:xfrm>
          <a:prstGeom prst="rect">
            <a:avLst/>
          </a:prstGeom>
        </p:spPr>
      </p:pic>
      <p:pic>
        <p:nvPicPr>
          <p:cNvPr id="35" name="Picture 34">
            <a:extLst>
              <a:ext uri="{FF2B5EF4-FFF2-40B4-BE49-F238E27FC236}">
                <a16:creationId xmlns:a16="http://schemas.microsoft.com/office/drawing/2014/main" id="{F1BEFEA3-BD09-E736-B289-76CB9AFF63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1388" y="2480450"/>
            <a:ext cx="7563906" cy="674464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67000" y="571500"/>
            <a:ext cx="15702433" cy="949325"/>
          </a:xfrm>
          <a:prstGeom prst="rect">
            <a:avLst/>
          </a:prstGeom>
        </p:spPr>
        <p:txBody>
          <a:bodyPr lIns="0" tIns="0" rIns="0" bIns="0" rtlCol="0" anchor="t">
            <a:spAutoFit/>
          </a:bodyPr>
          <a:lstStyle/>
          <a:p>
            <a:pPr algn="l">
              <a:lnSpc>
                <a:spcPts val="7150"/>
              </a:lnSpc>
            </a:pPr>
            <a:r>
              <a:rPr lang="en-US" sz="6500" b="1" dirty="0">
                <a:solidFill>
                  <a:srgbClr val="034383"/>
                </a:solidFill>
                <a:latin typeface="Ubuntu Bold"/>
                <a:ea typeface="Ubuntu Bold"/>
                <a:cs typeface="Ubuntu Bold"/>
                <a:sym typeface="Ubuntu Bold"/>
              </a:rPr>
              <a:t>DASHBOARD</a:t>
            </a:r>
          </a:p>
        </p:txBody>
      </p:sp>
      <p:pic>
        <p:nvPicPr>
          <p:cNvPr id="15" name="Picture 14">
            <a:extLst>
              <a:ext uri="{FF2B5EF4-FFF2-40B4-BE49-F238E27FC236}">
                <a16:creationId xmlns:a16="http://schemas.microsoft.com/office/drawing/2014/main" id="{8A4619AF-1C89-8B63-8277-A016EEED64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43100"/>
            <a:ext cx="7173326" cy="7297168"/>
          </a:xfrm>
          <a:prstGeom prst="rect">
            <a:avLst/>
          </a:prstGeom>
        </p:spPr>
      </p:pic>
      <p:pic>
        <p:nvPicPr>
          <p:cNvPr id="17" name="Picture 16">
            <a:extLst>
              <a:ext uri="{FF2B5EF4-FFF2-40B4-BE49-F238E27FC236}">
                <a16:creationId xmlns:a16="http://schemas.microsoft.com/office/drawing/2014/main" id="{A94CCC8D-5990-703F-A805-790E587E0B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5800" y="1912374"/>
            <a:ext cx="7287642" cy="694469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743200" y="777538"/>
            <a:ext cx="15702433" cy="949325"/>
          </a:xfrm>
          <a:prstGeom prst="rect">
            <a:avLst/>
          </a:prstGeom>
        </p:spPr>
        <p:txBody>
          <a:bodyPr lIns="0" tIns="0" rIns="0" bIns="0" rtlCol="0" anchor="t">
            <a:spAutoFit/>
          </a:bodyPr>
          <a:lstStyle/>
          <a:p>
            <a:pPr algn="l">
              <a:lnSpc>
                <a:spcPts val="7150"/>
              </a:lnSpc>
            </a:pPr>
            <a:r>
              <a:rPr lang="en-US" sz="6500" b="1" dirty="0">
                <a:solidFill>
                  <a:srgbClr val="034383"/>
                </a:solidFill>
                <a:latin typeface="Ubuntu Bold"/>
                <a:ea typeface="Ubuntu Bold"/>
                <a:cs typeface="Ubuntu Bold"/>
                <a:sym typeface="Ubuntu Bold"/>
              </a:rPr>
              <a:t> DASHBOARD</a:t>
            </a:r>
          </a:p>
        </p:txBody>
      </p:sp>
      <p:grpSp>
        <p:nvGrpSpPr>
          <p:cNvPr id="10" name="Group 10"/>
          <p:cNvGrpSpPr/>
          <p:nvPr/>
        </p:nvGrpSpPr>
        <p:grpSpPr>
          <a:xfrm>
            <a:off x="5119507" y="4116584"/>
            <a:ext cx="2641885" cy="389069"/>
            <a:chOff x="0" y="0"/>
            <a:chExt cx="695805" cy="102471"/>
          </a:xfrm>
        </p:grpSpPr>
        <p:sp>
          <p:nvSpPr>
            <p:cNvPr id="11" name="Freeform 11"/>
            <p:cNvSpPr/>
            <p:nvPr/>
          </p:nvSpPr>
          <p:spPr>
            <a:xfrm>
              <a:off x="0" y="0"/>
              <a:ext cx="695805" cy="102471"/>
            </a:xfrm>
            <a:custGeom>
              <a:avLst/>
              <a:gdLst/>
              <a:ahLst/>
              <a:cxnLst/>
              <a:rect l="l" t="t" r="r" b="b"/>
              <a:pathLst>
                <a:path w="695805" h="102471">
                  <a:moveTo>
                    <a:pt x="0" y="0"/>
                  </a:moveTo>
                  <a:lnTo>
                    <a:pt x="695805" y="0"/>
                  </a:lnTo>
                  <a:lnTo>
                    <a:pt x="695805" y="102471"/>
                  </a:lnTo>
                  <a:lnTo>
                    <a:pt x="0" y="102471"/>
                  </a:lnTo>
                  <a:close/>
                </a:path>
              </a:pathLst>
            </a:custGeom>
            <a:solidFill>
              <a:srgbClr val="FFFFFF"/>
            </a:solidFill>
          </p:spPr>
        </p:sp>
        <p:sp>
          <p:nvSpPr>
            <p:cNvPr id="12" name="TextBox 12"/>
            <p:cNvSpPr txBox="1"/>
            <p:nvPr/>
          </p:nvSpPr>
          <p:spPr>
            <a:xfrm>
              <a:off x="0" y="-66675"/>
              <a:ext cx="695805" cy="169146"/>
            </a:xfrm>
            <a:prstGeom prst="rect">
              <a:avLst/>
            </a:prstGeom>
          </p:spPr>
          <p:txBody>
            <a:bodyPr lIns="50800" tIns="50800" rIns="50800" bIns="50800" rtlCol="0" anchor="ctr"/>
            <a:lstStyle/>
            <a:p>
              <a:pPr algn="ctr">
                <a:lnSpc>
                  <a:spcPts val="2100"/>
                </a:lnSpc>
              </a:pPr>
              <a:r>
                <a:rPr lang="en-US" sz="1500" b="1">
                  <a:solidFill>
                    <a:srgbClr val="4F3F07"/>
                  </a:solidFill>
                  <a:latin typeface="Times New Roman Bold"/>
                  <a:ea typeface="Times New Roman Bold"/>
                  <a:cs typeface="Times New Roman Bold"/>
                  <a:sym typeface="Times New Roman Bold"/>
                </a:rPr>
                <a:t>UPCOMING EVENTS</a:t>
              </a:r>
            </a:p>
          </p:txBody>
        </p:sp>
      </p:grpSp>
      <p:pic>
        <p:nvPicPr>
          <p:cNvPr id="15" name="Picture 14">
            <a:extLst>
              <a:ext uri="{FF2B5EF4-FFF2-40B4-BE49-F238E27FC236}">
                <a16:creationId xmlns:a16="http://schemas.microsoft.com/office/drawing/2014/main" id="{683AEC0F-66B2-1DC7-66C4-A8D3CC0523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041862"/>
            <a:ext cx="14249400" cy="7467600"/>
          </a:xfrm>
          <a:prstGeom prst="rect">
            <a:avLst/>
          </a:prstGeom>
        </p:spPr>
      </p:pic>
      <p:sp>
        <p:nvSpPr>
          <p:cNvPr id="4" name="TextBox 3">
            <a:extLst>
              <a:ext uri="{FF2B5EF4-FFF2-40B4-BE49-F238E27FC236}">
                <a16:creationId xmlns:a16="http://schemas.microsoft.com/office/drawing/2014/main" id="{FFCE2870-A9FA-24E6-3274-71C3D02D7471}"/>
              </a:ext>
            </a:extLst>
          </p:cNvPr>
          <p:cNvSpPr txBox="1"/>
          <p:nvPr/>
        </p:nvSpPr>
        <p:spPr>
          <a:xfrm>
            <a:off x="5119507" y="2247900"/>
            <a:ext cx="1586093"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Markers</a:t>
            </a:r>
            <a:endParaRPr lang="en-CA"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4F4504-1199-0A57-5199-AC4B7BFBE15B}"/>
              </a:ext>
            </a:extLst>
          </p:cNvPr>
          <p:cNvSpPr txBox="1"/>
          <p:nvPr/>
        </p:nvSpPr>
        <p:spPr>
          <a:xfrm>
            <a:off x="4800600" y="-571500"/>
            <a:ext cx="5638800" cy="1938992"/>
          </a:xfrm>
          <a:prstGeom prst="rect">
            <a:avLst/>
          </a:prstGeom>
          <a:noFill/>
        </p:spPr>
        <p:txBody>
          <a:bodyPr wrap="square">
            <a:spAutoFit/>
          </a:bodyPr>
          <a:lstStyle/>
          <a:p>
            <a:pPr algn="l">
              <a:lnSpc>
                <a:spcPts val="7150"/>
              </a:lnSpc>
            </a:pPr>
            <a:r>
              <a:rPr lang="en-US" sz="6600" b="1" dirty="0">
                <a:solidFill>
                  <a:srgbClr val="034383"/>
                </a:solidFill>
                <a:latin typeface="Times New Roman" panose="02020603050405020304" pitchFamily="18" charset="0"/>
                <a:ea typeface="Ubuntu Bold"/>
                <a:cs typeface="Times New Roman" panose="02020603050405020304" pitchFamily="18" charset="0"/>
                <a:sym typeface="Ubuntu Bold"/>
              </a:rPr>
              <a:t> DASHBOARD</a:t>
            </a:r>
          </a:p>
        </p:txBody>
      </p:sp>
      <p:pic>
        <p:nvPicPr>
          <p:cNvPr id="6" name="Picture 5">
            <a:extLst>
              <a:ext uri="{FF2B5EF4-FFF2-40B4-BE49-F238E27FC236}">
                <a16:creationId xmlns:a16="http://schemas.microsoft.com/office/drawing/2014/main" id="{ED7241E1-0FE7-8BFD-020A-BC6DC1E4782D}"/>
              </a:ext>
            </a:extLst>
          </p:cNvPr>
          <p:cNvPicPr>
            <a:picLocks noChangeAspect="1"/>
          </p:cNvPicPr>
          <p:nvPr/>
        </p:nvPicPr>
        <p:blipFill>
          <a:blip r:embed="rId2"/>
          <a:stretch>
            <a:fillRect/>
          </a:stretch>
        </p:blipFill>
        <p:spPr>
          <a:xfrm>
            <a:off x="1066800" y="2171700"/>
            <a:ext cx="13411200" cy="7180183"/>
          </a:xfrm>
          <a:prstGeom prst="rect">
            <a:avLst/>
          </a:prstGeom>
        </p:spPr>
      </p:pic>
      <p:sp>
        <p:nvSpPr>
          <p:cNvPr id="10" name="TextBox 9">
            <a:extLst>
              <a:ext uri="{FF2B5EF4-FFF2-40B4-BE49-F238E27FC236}">
                <a16:creationId xmlns:a16="http://schemas.microsoft.com/office/drawing/2014/main" id="{71FCC23B-9E1B-AEF7-D1A9-CABE39CADC6C}"/>
              </a:ext>
            </a:extLst>
          </p:cNvPr>
          <p:cNvSpPr txBox="1"/>
          <p:nvPr/>
        </p:nvSpPr>
        <p:spPr>
          <a:xfrm>
            <a:off x="5486400" y="2400300"/>
            <a:ext cx="9151374"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Clusters</a:t>
            </a:r>
            <a:endParaRPr lang="en-CA" sz="2800" dirty="0"/>
          </a:p>
        </p:txBody>
      </p:sp>
    </p:spTree>
    <p:extLst>
      <p:ext uri="{BB962C8B-B14F-4D97-AF65-F5344CB8AC3E}">
        <p14:creationId xmlns:p14="http://schemas.microsoft.com/office/powerpoint/2010/main" val="1327221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9CC43-653E-F0CA-ACF2-706BC938A840}"/>
              </a:ext>
            </a:extLst>
          </p:cNvPr>
          <p:cNvSpPr>
            <a:spLocks noGrp="1"/>
          </p:cNvSpPr>
          <p:nvPr>
            <p:ph type="ctrTitle"/>
          </p:nvPr>
        </p:nvSpPr>
        <p:spPr>
          <a:xfrm>
            <a:off x="3581400" y="342900"/>
            <a:ext cx="7535604" cy="1478853"/>
          </a:xfrm>
        </p:spPr>
        <p:txBody>
          <a:bodyPr/>
          <a:lstStyle/>
          <a:p>
            <a:r>
              <a:rPr lang="en-US" sz="8800" b="1" dirty="0">
                <a:solidFill>
                  <a:srgbClr val="034383"/>
                </a:solidFill>
                <a:latin typeface="Times New Roman" panose="02020603050405020304" pitchFamily="18" charset="0"/>
                <a:ea typeface="Ubuntu Bold"/>
                <a:cs typeface="Times New Roman" panose="02020603050405020304" pitchFamily="18" charset="0"/>
                <a:sym typeface="Ubuntu Bold"/>
              </a:rPr>
              <a:t>DASHBOARD</a:t>
            </a:r>
            <a:endParaRPr lang="en-CA" dirty="0"/>
          </a:p>
        </p:txBody>
      </p:sp>
      <p:pic>
        <p:nvPicPr>
          <p:cNvPr id="5" name="Picture 4">
            <a:extLst>
              <a:ext uri="{FF2B5EF4-FFF2-40B4-BE49-F238E27FC236}">
                <a16:creationId xmlns:a16="http://schemas.microsoft.com/office/drawing/2014/main" id="{ADC05DB9-D81D-CB00-8F4F-788999F8677B}"/>
              </a:ext>
            </a:extLst>
          </p:cNvPr>
          <p:cNvPicPr>
            <a:picLocks noChangeAspect="1"/>
          </p:cNvPicPr>
          <p:nvPr/>
        </p:nvPicPr>
        <p:blipFill>
          <a:blip r:embed="rId2"/>
          <a:stretch>
            <a:fillRect/>
          </a:stretch>
        </p:blipFill>
        <p:spPr>
          <a:xfrm>
            <a:off x="1066800" y="2171700"/>
            <a:ext cx="13868399" cy="6541981"/>
          </a:xfrm>
          <a:prstGeom prst="rect">
            <a:avLst/>
          </a:prstGeom>
        </p:spPr>
      </p:pic>
      <p:sp>
        <p:nvSpPr>
          <p:cNvPr id="7" name="TextBox 6">
            <a:extLst>
              <a:ext uri="{FF2B5EF4-FFF2-40B4-BE49-F238E27FC236}">
                <a16:creationId xmlns:a16="http://schemas.microsoft.com/office/drawing/2014/main" id="{F58F446D-4453-E823-6013-DE348CC1A48B}"/>
              </a:ext>
            </a:extLst>
          </p:cNvPr>
          <p:cNvSpPr txBox="1"/>
          <p:nvPr/>
        </p:nvSpPr>
        <p:spPr>
          <a:xfrm>
            <a:off x="5562600" y="2209800"/>
            <a:ext cx="9151374"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Heat Map</a:t>
            </a:r>
            <a:endParaRPr lang="en-CA"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5920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A2515D53-C3B1-DE24-CAF0-8878B604C426}"/>
              </a:ext>
            </a:extLst>
          </p:cNvPr>
          <p:cNvSpPr txBox="1"/>
          <p:nvPr/>
        </p:nvSpPr>
        <p:spPr>
          <a:xfrm>
            <a:off x="3581400" y="1062649"/>
            <a:ext cx="15702433" cy="949325"/>
          </a:xfrm>
          <a:prstGeom prst="rect">
            <a:avLst/>
          </a:prstGeom>
        </p:spPr>
        <p:txBody>
          <a:bodyPr lIns="0" tIns="0" rIns="0" bIns="0" rtlCol="0" anchor="t">
            <a:spAutoFit/>
          </a:bodyPr>
          <a:lstStyle/>
          <a:p>
            <a:pPr algn="l">
              <a:lnSpc>
                <a:spcPts val="7150"/>
              </a:lnSpc>
            </a:pPr>
            <a:r>
              <a:rPr lang="en-US" sz="6500" b="1" dirty="0">
                <a:solidFill>
                  <a:srgbClr val="034383"/>
                </a:solidFill>
                <a:latin typeface="Ubuntu Bold"/>
                <a:ea typeface="Ubuntu Bold"/>
                <a:cs typeface="Ubuntu Bold"/>
                <a:sym typeface="Ubuntu Bold"/>
              </a:rPr>
              <a:t> DASHBOARD</a:t>
            </a:r>
          </a:p>
        </p:txBody>
      </p:sp>
      <p:grpSp>
        <p:nvGrpSpPr>
          <p:cNvPr id="10" name="Group 10">
            <a:extLst>
              <a:ext uri="{FF2B5EF4-FFF2-40B4-BE49-F238E27FC236}">
                <a16:creationId xmlns:a16="http://schemas.microsoft.com/office/drawing/2014/main" id="{07CDF251-CF88-2F76-0888-52C0A7C137DF}"/>
              </a:ext>
            </a:extLst>
          </p:cNvPr>
          <p:cNvGrpSpPr/>
          <p:nvPr/>
        </p:nvGrpSpPr>
        <p:grpSpPr>
          <a:xfrm>
            <a:off x="5542637" y="4136601"/>
            <a:ext cx="2641885" cy="389069"/>
            <a:chOff x="0" y="0"/>
            <a:chExt cx="695805" cy="102471"/>
          </a:xfrm>
        </p:grpSpPr>
        <p:sp>
          <p:nvSpPr>
            <p:cNvPr id="11" name="Freeform 11">
              <a:extLst>
                <a:ext uri="{FF2B5EF4-FFF2-40B4-BE49-F238E27FC236}">
                  <a16:creationId xmlns:a16="http://schemas.microsoft.com/office/drawing/2014/main" id="{A4B5FAA8-C265-A430-5643-ECF240821C9D}"/>
                </a:ext>
              </a:extLst>
            </p:cNvPr>
            <p:cNvSpPr/>
            <p:nvPr/>
          </p:nvSpPr>
          <p:spPr>
            <a:xfrm>
              <a:off x="0" y="0"/>
              <a:ext cx="695805" cy="102471"/>
            </a:xfrm>
            <a:custGeom>
              <a:avLst/>
              <a:gdLst/>
              <a:ahLst/>
              <a:cxnLst/>
              <a:rect l="l" t="t" r="r" b="b"/>
              <a:pathLst>
                <a:path w="695805" h="102471">
                  <a:moveTo>
                    <a:pt x="0" y="0"/>
                  </a:moveTo>
                  <a:lnTo>
                    <a:pt x="695805" y="0"/>
                  </a:lnTo>
                  <a:lnTo>
                    <a:pt x="695805" y="102471"/>
                  </a:lnTo>
                  <a:lnTo>
                    <a:pt x="0" y="102471"/>
                  </a:lnTo>
                  <a:close/>
                </a:path>
              </a:pathLst>
            </a:custGeom>
            <a:solidFill>
              <a:srgbClr val="FFFFFF"/>
            </a:solidFill>
          </p:spPr>
        </p:sp>
        <p:sp>
          <p:nvSpPr>
            <p:cNvPr id="12" name="TextBox 12">
              <a:extLst>
                <a:ext uri="{FF2B5EF4-FFF2-40B4-BE49-F238E27FC236}">
                  <a16:creationId xmlns:a16="http://schemas.microsoft.com/office/drawing/2014/main" id="{C7E964F8-2921-D53A-8882-74BD89AE1DFF}"/>
                </a:ext>
              </a:extLst>
            </p:cNvPr>
            <p:cNvSpPr txBox="1"/>
            <p:nvPr/>
          </p:nvSpPr>
          <p:spPr>
            <a:xfrm>
              <a:off x="0" y="-66675"/>
              <a:ext cx="695805" cy="169146"/>
            </a:xfrm>
            <a:prstGeom prst="rect">
              <a:avLst/>
            </a:prstGeom>
          </p:spPr>
          <p:txBody>
            <a:bodyPr lIns="50800" tIns="50800" rIns="50800" bIns="50800" rtlCol="0" anchor="ctr"/>
            <a:lstStyle/>
            <a:p>
              <a:pPr algn="ctr">
                <a:lnSpc>
                  <a:spcPts val="2100"/>
                </a:lnSpc>
              </a:pPr>
              <a:r>
                <a:rPr lang="en-US" sz="1500" b="1">
                  <a:solidFill>
                    <a:srgbClr val="4F3F07"/>
                  </a:solidFill>
                  <a:latin typeface="Times New Roman Bold"/>
                  <a:ea typeface="Times New Roman Bold"/>
                  <a:cs typeface="Times New Roman Bold"/>
                  <a:sym typeface="Times New Roman Bold"/>
                </a:rPr>
                <a:t>UPCOMING EVENTS</a:t>
              </a:r>
            </a:p>
          </p:txBody>
        </p:sp>
      </p:grpSp>
      <p:pic>
        <p:nvPicPr>
          <p:cNvPr id="15" name="Picture 14">
            <a:extLst>
              <a:ext uri="{FF2B5EF4-FFF2-40B4-BE49-F238E27FC236}">
                <a16:creationId xmlns:a16="http://schemas.microsoft.com/office/drawing/2014/main" id="{1C58159F-FEDE-E46C-3309-DC6C553630C9}"/>
              </a:ext>
            </a:extLst>
          </p:cNvPr>
          <p:cNvPicPr>
            <a:picLocks noChangeAspect="1"/>
          </p:cNvPicPr>
          <p:nvPr/>
        </p:nvPicPr>
        <p:blipFill>
          <a:blip r:embed="rId2"/>
          <a:stretch>
            <a:fillRect/>
          </a:stretch>
        </p:blipFill>
        <p:spPr>
          <a:xfrm>
            <a:off x="838200" y="2552700"/>
            <a:ext cx="13793395" cy="6553768"/>
          </a:xfrm>
          <a:prstGeom prst="rect">
            <a:avLst/>
          </a:prstGeom>
        </p:spPr>
      </p:pic>
    </p:spTree>
    <p:extLst>
      <p:ext uri="{BB962C8B-B14F-4D97-AF65-F5344CB8AC3E}">
        <p14:creationId xmlns:p14="http://schemas.microsoft.com/office/powerpoint/2010/main" val="2497844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9021A9-237B-9E52-FC7C-B66DA3B39689}"/>
              </a:ext>
            </a:extLst>
          </p:cNvPr>
          <p:cNvSpPr txBox="1"/>
          <p:nvPr/>
        </p:nvSpPr>
        <p:spPr>
          <a:xfrm>
            <a:off x="3962400" y="495300"/>
            <a:ext cx="9151374" cy="1015663"/>
          </a:xfrm>
          <a:prstGeom prst="rect">
            <a:avLst/>
          </a:prstGeom>
          <a:noFill/>
        </p:spPr>
        <p:txBody>
          <a:bodyPr wrap="square">
            <a:spAutoFit/>
          </a:bodyPr>
          <a:lstStyle/>
          <a:p>
            <a:pPr algn="l">
              <a:lnSpc>
                <a:spcPts val="7150"/>
              </a:lnSpc>
            </a:pPr>
            <a:r>
              <a:rPr lang="en-US" sz="6600" b="1" dirty="0">
                <a:solidFill>
                  <a:srgbClr val="034383"/>
                </a:solidFill>
                <a:latin typeface="Times New Roman" panose="02020603050405020304" pitchFamily="18" charset="0"/>
                <a:ea typeface="Ubuntu Bold"/>
                <a:cs typeface="Times New Roman" panose="02020603050405020304" pitchFamily="18" charset="0"/>
                <a:sym typeface="Ubuntu Bold"/>
              </a:rPr>
              <a:t> DASHBOARD</a:t>
            </a:r>
          </a:p>
        </p:txBody>
      </p:sp>
      <p:pic>
        <p:nvPicPr>
          <p:cNvPr id="5" name="Picture 4">
            <a:extLst>
              <a:ext uri="{FF2B5EF4-FFF2-40B4-BE49-F238E27FC236}">
                <a16:creationId xmlns:a16="http://schemas.microsoft.com/office/drawing/2014/main" id="{7008B62A-06AA-EE80-7F2F-F95033B535CE}"/>
              </a:ext>
            </a:extLst>
          </p:cNvPr>
          <p:cNvPicPr>
            <a:picLocks noChangeAspect="1"/>
          </p:cNvPicPr>
          <p:nvPr/>
        </p:nvPicPr>
        <p:blipFill>
          <a:blip r:embed="rId2"/>
          <a:stretch>
            <a:fillRect/>
          </a:stretch>
        </p:blipFill>
        <p:spPr>
          <a:xfrm>
            <a:off x="1826995" y="3184587"/>
            <a:ext cx="10447925" cy="6607113"/>
          </a:xfrm>
          <a:prstGeom prst="rect">
            <a:avLst/>
          </a:prstGeom>
        </p:spPr>
      </p:pic>
      <p:sp>
        <p:nvSpPr>
          <p:cNvPr id="7" name="TextBox 6">
            <a:extLst>
              <a:ext uri="{FF2B5EF4-FFF2-40B4-BE49-F238E27FC236}">
                <a16:creationId xmlns:a16="http://schemas.microsoft.com/office/drawing/2014/main" id="{A6D58E13-C4EE-C987-BF2E-CB00312C3F28}"/>
              </a:ext>
            </a:extLst>
          </p:cNvPr>
          <p:cNvSpPr txBox="1"/>
          <p:nvPr/>
        </p:nvSpPr>
        <p:spPr>
          <a:xfrm>
            <a:off x="2475271" y="2043499"/>
            <a:ext cx="9151374" cy="523220"/>
          </a:xfrm>
          <a:prstGeom prst="rect">
            <a:avLst/>
          </a:prstGeom>
          <a:noFill/>
        </p:spPr>
        <p:txBody>
          <a:bodyPr wrap="square">
            <a:spAutoFit/>
          </a:bodyPr>
          <a:lstStyle/>
          <a:p>
            <a:r>
              <a:rPr lang="en-CA" b="1" dirty="0"/>
              <a:t>📊</a:t>
            </a:r>
            <a:r>
              <a:rPr lang="en-CA" sz="2800" b="1" i="0" dirty="0">
                <a:solidFill>
                  <a:srgbClr val="31333F"/>
                </a:solidFill>
                <a:effectLst/>
                <a:latin typeface="Times New Roman" panose="02020603050405020304" pitchFamily="18" charset="0"/>
                <a:cs typeface="Times New Roman" panose="02020603050405020304" pitchFamily="18" charset="0"/>
              </a:rPr>
              <a:t>City Comparison (2021–2025)</a:t>
            </a:r>
          </a:p>
        </p:txBody>
      </p:sp>
    </p:spTree>
    <p:extLst>
      <p:ext uri="{BB962C8B-B14F-4D97-AF65-F5344CB8AC3E}">
        <p14:creationId xmlns:p14="http://schemas.microsoft.com/office/powerpoint/2010/main" val="3576387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AAA850-3FF0-6BFA-8571-CEC1C06C15DA}"/>
              </a:ext>
            </a:extLst>
          </p:cNvPr>
          <p:cNvSpPr txBox="1"/>
          <p:nvPr/>
        </p:nvSpPr>
        <p:spPr>
          <a:xfrm>
            <a:off x="1676400" y="2247900"/>
            <a:ext cx="9151374" cy="1077218"/>
          </a:xfrm>
          <a:prstGeom prst="rect">
            <a:avLst/>
          </a:prstGeom>
          <a:noFill/>
        </p:spPr>
        <p:txBody>
          <a:bodyPr wrap="square">
            <a:spAutoFit/>
          </a:bodyPr>
          <a:lstStyle/>
          <a:p>
            <a:pPr>
              <a:buNone/>
            </a:pPr>
            <a:r>
              <a:rPr lang="en-US" sz="2800" b="1" dirty="0">
                <a:effectLst/>
                <a:latin typeface="Times New Roman" panose="02020603050405020304" pitchFamily="18" charset="0"/>
                <a:cs typeface="Times New Roman" panose="02020603050405020304" pitchFamily="18" charset="0"/>
              </a:rPr>
              <a:t>📈 Future Accident Prediction (Simple Trend Forecast)</a:t>
            </a:r>
          </a:p>
          <a:p>
            <a:pPr>
              <a:buNone/>
            </a:pPr>
            <a:br>
              <a:rPr lang="en-US" b="0" i="0" dirty="0">
                <a:solidFill>
                  <a:srgbClr val="31333F"/>
                </a:solidFill>
                <a:effectLst/>
                <a:latin typeface="Segoe UI" panose="020B0502040204020203" pitchFamily="34" charset="0"/>
              </a:rPr>
            </a:br>
            <a:endParaRPr lang="en-CA" dirty="0"/>
          </a:p>
        </p:txBody>
      </p:sp>
      <p:sp>
        <p:nvSpPr>
          <p:cNvPr id="5" name="TextBox 4">
            <a:extLst>
              <a:ext uri="{FF2B5EF4-FFF2-40B4-BE49-F238E27FC236}">
                <a16:creationId xmlns:a16="http://schemas.microsoft.com/office/drawing/2014/main" id="{AFC177C5-AEEE-FB5D-9974-FA75165C6DC4}"/>
              </a:ext>
            </a:extLst>
          </p:cNvPr>
          <p:cNvSpPr txBox="1"/>
          <p:nvPr/>
        </p:nvSpPr>
        <p:spPr>
          <a:xfrm>
            <a:off x="3962400" y="723900"/>
            <a:ext cx="9151374" cy="1015663"/>
          </a:xfrm>
          <a:prstGeom prst="rect">
            <a:avLst/>
          </a:prstGeom>
          <a:noFill/>
        </p:spPr>
        <p:txBody>
          <a:bodyPr wrap="square">
            <a:spAutoFit/>
          </a:bodyPr>
          <a:lstStyle/>
          <a:p>
            <a:pPr algn="l">
              <a:lnSpc>
                <a:spcPts val="7150"/>
              </a:lnSpc>
            </a:pPr>
            <a:r>
              <a:rPr lang="en-US" sz="6600" b="1" dirty="0">
                <a:solidFill>
                  <a:srgbClr val="034383"/>
                </a:solidFill>
                <a:latin typeface="Times New Roman" panose="02020603050405020304" pitchFamily="18" charset="0"/>
                <a:ea typeface="Ubuntu Bold"/>
                <a:cs typeface="Times New Roman" panose="02020603050405020304" pitchFamily="18" charset="0"/>
                <a:sym typeface="Ubuntu Bold"/>
              </a:rPr>
              <a:t> DASHBOARD</a:t>
            </a:r>
          </a:p>
        </p:txBody>
      </p:sp>
      <p:pic>
        <p:nvPicPr>
          <p:cNvPr id="7" name="Picture 6">
            <a:extLst>
              <a:ext uri="{FF2B5EF4-FFF2-40B4-BE49-F238E27FC236}">
                <a16:creationId xmlns:a16="http://schemas.microsoft.com/office/drawing/2014/main" id="{CE12C93A-E9BD-D2B0-5195-D6321581B3A0}"/>
              </a:ext>
            </a:extLst>
          </p:cNvPr>
          <p:cNvPicPr>
            <a:picLocks noChangeAspect="1"/>
          </p:cNvPicPr>
          <p:nvPr/>
        </p:nvPicPr>
        <p:blipFill>
          <a:blip r:embed="rId2"/>
          <a:stretch>
            <a:fillRect/>
          </a:stretch>
        </p:blipFill>
        <p:spPr>
          <a:xfrm>
            <a:off x="1905000" y="2933700"/>
            <a:ext cx="9296400" cy="5563082"/>
          </a:xfrm>
          <a:prstGeom prst="rect">
            <a:avLst/>
          </a:prstGeom>
        </p:spPr>
      </p:pic>
      <p:pic>
        <p:nvPicPr>
          <p:cNvPr id="4" name="Picture 3">
            <a:extLst>
              <a:ext uri="{FF2B5EF4-FFF2-40B4-BE49-F238E27FC236}">
                <a16:creationId xmlns:a16="http://schemas.microsoft.com/office/drawing/2014/main" id="{9F7947F5-DE39-0611-BA72-14137BB36D78}"/>
              </a:ext>
            </a:extLst>
          </p:cNvPr>
          <p:cNvPicPr>
            <a:picLocks noChangeAspect="1"/>
          </p:cNvPicPr>
          <p:nvPr/>
        </p:nvPicPr>
        <p:blipFill>
          <a:blip r:embed="rId3"/>
          <a:stretch>
            <a:fillRect/>
          </a:stretch>
        </p:blipFill>
        <p:spPr>
          <a:xfrm>
            <a:off x="1656734" y="8496781"/>
            <a:ext cx="12059265" cy="1015663"/>
          </a:xfrm>
          <a:prstGeom prst="rect">
            <a:avLst/>
          </a:prstGeom>
        </p:spPr>
      </p:pic>
    </p:spTree>
    <p:extLst>
      <p:ext uri="{BB962C8B-B14F-4D97-AF65-F5344CB8AC3E}">
        <p14:creationId xmlns:p14="http://schemas.microsoft.com/office/powerpoint/2010/main" val="2895473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6934200" y="0"/>
            <a:ext cx="5764837" cy="949325"/>
          </a:xfrm>
          <a:prstGeom prst="rect">
            <a:avLst/>
          </a:prstGeom>
        </p:spPr>
        <p:txBody>
          <a:bodyPr lIns="0" tIns="0" rIns="0" bIns="0" rtlCol="0" anchor="t">
            <a:spAutoFit/>
          </a:bodyPr>
          <a:lstStyle/>
          <a:p>
            <a:pPr algn="l">
              <a:lnSpc>
                <a:spcPts val="7150"/>
              </a:lnSpc>
            </a:pPr>
            <a:r>
              <a:rPr lang="en-US" sz="6500" b="1" dirty="0">
                <a:solidFill>
                  <a:srgbClr val="034383"/>
                </a:solidFill>
                <a:latin typeface="Times New Roman" panose="02020603050405020304" pitchFamily="18" charset="0"/>
                <a:ea typeface="Ubuntu Bold"/>
                <a:cs typeface="Times New Roman" panose="02020603050405020304" pitchFamily="18" charset="0"/>
                <a:sym typeface="Ubuntu Bold"/>
              </a:rPr>
              <a:t>Conclusion:</a:t>
            </a:r>
          </a:p>
        </p:txBody>
      </p:sp>
      <p:sp>
        <p:nvSpPr>
          <p:cNvPr id="10" name="TextBox 10"/>
          <p:cNvSpPr txBox="1"/>
          <p:nvPr/>
        </p:nvSpPr>
        <p:spPr>
          <a:xfrm>
            <a:off x="6019800" y="1714500"/>
            <a:ext cx="11417732" cy="4591450"/>
          </a:xfrm>
          <a:prstGeom prst="rect">
            <a:avLst/>
          </a:prstGeom>
        </p:spPr>
        <p:txBody>
          <a:bodyPr wrap="square" lIns="0" tIns="0" rIns="0" bIns="0" rtlCol="0" anchor="t">
            <a:spAutoFit/>
          </a:bodyPr>
          <a:lstStyle/>
          <a:p>
            <a:pPr>
              <a:lnSpc>
                <a:spcPts val="7410"/>
              </a:lnSpc>
            </a:pPr>
            <a:r>
              <a:rPr lang="en-US" sz="2800" dirty="0"/>
              <a:t>The Karnataka Road Accident Dashboard offers an interactive platform to analyze accident trends, hotspots, and severity from 2021–2025. With city-specific insights, predictive analysis, and downloadable reports, it helps authorities make data-driven decisions to improve road safety and reduce casualties.</a:t>
            </a:r>
            <a:endParaRPr lang="en-US" sz="2800" dirty="0">
              <a:solidFill>
                <a:srgbClr val="0D1D29"/>
              </a:solidFill>
              <a:latin typeface="Times New Roman" panose="02020603050405020304" pitchFamily="18" charset="0"/>
              <a:ea typeface="Open Sans"/>
              <a:cs typeface="Times New Roman" panose="02020603050405020304" pitchFamily="18" charset="0"/>
              <a:sym typeface="Open Sans"/>
            </a:endParaRPr>
          </a:p>
        </p:txBody>
      </p:sp>
      <p:pic>
        <p:nvPicPr>
          <p:cNvPr id="21" name="Picture 20">
            <a:extLst>
              <a:ext uri="{FF2B5EF4-FFF2-40B4-BE49-F238E27FC236}">
                <a16:creationId xmlns:a16="http://schemas.microsoft.com/office/drawing/2014/main" id="{196C5DC7-6F8E-42FA-6F01-30723AF60F67}"/>
              </a:ext>
            </a:extLst>
          </p:cNvPr>
          <p:cNvPicPr>
            <a:picLocks noChangeAspect="1"/>
          </p:cNvPicPr>
          <p:nvPr/>
        </p:nvPicPr>
        <p:blipFill>
          <a:blip r:embed="rId2"/>
          <a:stretch>
            <a:fillRect/>
          </a:stretch>
        </p:blipFill>
        <p:spPr>
          <a:xfrm>
            <a:off x="0" y="0"/>
            <a:ext cx="5696906" cy="10287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81E9F-34A2-87AF-4497-803008F30EB8}"/>
              </a:ext>
            </a:extLst>
          </p:cNvPr>
          <p:cNvSpPr>
            <a:spLocks noGrp="1"/>
          </p:cNvSpPr>
          <p:nvPr>
            <p:ph type="ctrTitle"/>
          </p:nvPr>
        </p:nvSpPr>
        <p:spPr>
          <a:xfrm>
            <a:off x="-1143000" y="723900"/>
            <a:ext cx="12903199" cy="2469453"/>
          </a:xfrm>
        </p:spPr>
        <p:txBody>
          <a:bodyPr/>
          <a:lstStyle/>
          <a:p>
            <a:r>
              <a:rPr lang="en-CA" b="1" dirty="0">
                <a:solidFill>
                  <a:schemeClr val="tx2"/>
                </a:solidFill>
                <a:latin typeface="Times New Roman" panose="02020603050405020304" pitchFamily="18" charset="0"/>
                <a:cs typeface="Times New Roman" panose="02020603050405020304" pitchFamily="18" charset="0"/>
              </a:rPr>
              <a:t>Future Work</a:t>
            </a:r>
            <a:br>
              <a:rPr lang="en-CA" b="1" dirty="0">
                <a:solidFill>
                  <a:schemeClr val="tx2"/>
                </a:solidFill>
                <a:latin typeface="Times New Roman" panose="02020603050405020304" pitchFamily="18" charset="0"/>
                <a:cs typeface="Times New Roman" panose="02020603050405020304" pitchFamily="18" charset="0"/>
              </a:rPr>
            </a:br>
            <a:endParaRPr lang="en-CA" dirty="0">
              <a:solidFill>
                <a:schemeClr val="tx2"/>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391BE3D-62C3-4B2A-F809-89CF2314FE55}"/>
              </a:ext>
            </a:extLst>
          </p:cNvPr>
          <p:cNvSpPr>
            <a:spLocks noGrp="1" noChangeArrowheads="1"/>
          </p:cNvSpPr>
          <p:nvPr>
            <p:ph type="subTitle" idx="1"/>
          </p:nvPr>
        </p:nvSpPr>
        <p:spPr bwMode="auto">
          <a:xfrm>
            <a:off x="838200" y="2781300"/>
            <a:ext cx="125730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Real-Time Data:</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Connect dashboard to live traffic and accident feeds for up-to-date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Predictive Models: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Machine Learning (e.g., Random Forest,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more accurate accident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Mobile-Friendly Dashboard:</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 a responsive version for tablets and smartphones for easy access by authorities.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Alerts &amp; Notifications: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Alert traffic police or emergency services about accident-prone zones or unusual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Visualization: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 interactive heatmaps, 3D maps, and temporal animations for deeper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Expanded Data Sources: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Include hospital, insurance, and vehicle registration data to analyze accident causes more comprehensively.</a:t>
            </a:r>
          </a:p>
        </p:txBody>
      </p:sp>
    </p:spTree>
    <p:extLst>
      <p:ext uri="{BB962C8B-B14F-4D97-AF65-F5344CB8AC3E}">
        <p14:creationId xmlns:p14="http://schemas.microsoft.com/office/powerpoint/2010/main" val="1212337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9646-0F19-51BF-1EB3-2CE57345E131}"/>
              </a:ext>
            </a:extLst>
          </p:cNvPr>
          <p:cNvSpPr>
            <a:spLocks noGrp="1"/>
          </p:cNvSpPr>
          <p:nvPr>
            <p:ph type="ctrTitle"/>
          </p:nvPr>
        </p:nvSpPr>
        <p:spPr>
          <a:xfrm>
            <a:off x="4724400" y="-266700"/>
            <a:ext cx="6697404" cy="1504254"/>
          </a:xfrm>
        </p:spPr>
        <p:txBody>
          <a:bodyPr/>
          <a:lstStyle/>
          <a:p>
            <a:r>
              <a:rPr lang="en-US" sz="6600" b="1" dirty="0">
                <a:solidFill>
                  <a:schemeClr val="tx2"/>
                </a:solidFill>
                <a:latin typeface="Times New Roman" panose="02020603050405020304" pitchFamily="18" charset="0"/>
                <a:cs typeface="Times New Roman" panose="02020603050405020304" pitchFamily="18" charset="0"/>
              </a:rPr>
              <a:t>REFERENCES</a:t>
            </a:r>
            <a:endParaRPr lang="en-CA" sz="6600" b="1" dirty="0">
              <a:solidFill>
                <a:schemeClr val="tx2"/>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C503AFD-1D1F-FCA8-0635-33D6E6396784}"/>
              </a:ext>
            </a:extLst>
          </p:cNvPr>
          <p:cNvSpPr>
            <a:spLocks noGrp="1"/>
          </p:cNvSpPr>
          <p:nvPr>
            <p:ph type="subTitle" idx="1"/>
          </p:nvPr>
        </p:nvSpPr>
        <p:spPr>
          <a:xfrm>
            <a:off x="1295400" y="1504254"/>
            <a:ext cx="11650404" cy="8592246"/>
          </a:xfrm>
        </p:spPr>
        <p:txBody>
          <a:bodyPr>
            <a:noAutofit/>
          </a:bodyPr>
          <a:lstStyle/>
          <a:p>
            <a:pPr marL="514350" lvl="0" indent="-514350" algn="l">
              <a:buFont typeface="+mj-lt"/>
              <a:buAutoNum type="romanLcPeriod"/>
            </a:pPr>
            <a:r>
              <a:rPr lang="en-US" sz="2400" dirty="0">
                <a:solidFill>
                  <a:schemeClr val="tx1"/>
                </a:solidFill>
                <a:latin typeface="Times New Roman" panose="02020603050405020304" pitchFamily="18" charset="0"/>
                <a:cs typeface="Times New Roman" panose="02020603050405020304" pitchFamily="18" charset="0"/>
              </a:rPr>
              <a:t>K. Katoch and R. G. Tiwari, "Machine Learning-Based Classification of Road Accident Severity in India: A Comparative Analysis of Algorithms," </a:t>
            </a:r>
            <a:r>
              <a:rPr lang="en-US" sz="2400" i="1" dirty="0">
                <a:solidFill>
                  <a:schemeClr val="tx1"/>
                </a:solidFill>
                <a:latin typeface="Times New Roman" panose="02020603050405020304" pitchFamily="18" charset="0"/>
                <a:cs typeface="Times New Roman" panose="02020603050405020304" pitchFamily="18" charset="0"/>
              </a:rPr>
              <a:t>2023 14th International Conference on Computing Communication and Networking Technologies (ICCCNT)</a:t>
            </a:r>
            <a:r>
              <a:rPr lang="en-US" sz="2400" dirty="0">
                <a:solidFill>
                  <a:schemeClr val="tx1"/>
                </a:solidFill>
                <a:latin typeface="Times New Roman" panose="02020603050405020304" pitchFamily="18" charset="0"/>
                <a:cs typeface="Times New Roman" panose="02020603050405020304" pitchFamily="18" charset="0"/>
              </a:rPr>
              <a:t>, Delhi, India, 2023, pp. 1-5, </a:t>
            </a:r>
            <a:r>
              <a:rPr lang="en-US" sz="2400" dirty="0" err="1">
                <a:solidFill>
                  <a:schemeClr val="tx1"/>
                </a:solidFill>
                <a:latin typeface="Times New Roman" panose="02020603050405020304" pitchFamily="18" charset="0"/>
                <a:cs typeface="Times New Roman" panose="02020603050405020304" pitchFamily="18" charset="0"/>
              </a:rPr>
              <a:t>doi</a:t>
            </a:r>
            <a:r>
              <a:rPr lang="en-US" sz="2400" dirty="0">
                <a:solidFill>
                  <a:schemeClr val="tx1"/>
                </a:solidFill>
                <a:latin typeface="Times New Roman" panose="02020603050405020304" pitchFamily="18" charset="0"/>
                <a:cs typeface="Times New Roman" panose="02020603050405020304" pitchFamily="18" charset="0"/>
              </a:rPr>
              <a:t>: 10.1109/ICCCNT56998.2023.10308335.</a:t>
            </a:r>
            <a:endParaRPr lang="en-CA" sz="2400" dirty="0">
              <a:solidFill>
                <a:schemeClr val="tx1"/>
              </a:solidFill>
              <a:latin typeface="Times New Roman" panose="02020603050405020304" pitchFamily="18" charset="0"/>
              <a:cs typeface="Times New Roman" panose="02020603050405020304" pitchFamily="18" charset="0"/>
            </a:endParaRPr>
          </a:p>
          <a:p>
            <a:pPr marL="514350" lvl="0" indent="-514350" algn="l">
              <a:buFont typeface="+mj-lt"/>
              <a:buAutoNum type="romanLcPeriod"/>
            </a:pPr>
            <a:r>
              <a:rPr lang="en-US" sz="2400" dirty="0">
                <a:solidFill>
                  <a:schemeClr val="tx1"/>
                </a:solidFill>
                <a:latin typeface="Times New Roman" panose="02020603050405020304" pitchFamily="18" charset="0"/>
                <a:cs typeface="Times New Roman" panose="02020603050405020304" pitchFamily="18" charset="0"/>
              </a:rPr>
              <a:t>J. Xi, S. Wang, Chen Xiaodong and </a:t>
            </a:r>
            <a:r>
              <a:rPr lang="en-US" sz="2400" dirty="0" err="1">
                <a:solidFill>
                  <a:schemeClr val="tx1"/>
                </a:solidFill>
                <a:latin typeface="Times New Roman" panose="02020603050405020304" pitchFamily="18" charset="0"/>
                <a:cs typeface="Times New Roman" panose="02020603050405020304" pitchFamily="18" charset="0"/>
              </a:rPr>
              <a:t>Zhurongtao</a:t>
            </a:r>
            <a:r>
              <a:rPr lang="en-US" sz="2400" dirty="0">
                <a:solidFill>
                  <a:schemeClr val="tx1"/>
                </a:solidFill>
                <a:latin typeface="Times New Roman" panose="02020603050405020304" pitchFamily="18" charset="0"/>
                <a:cs typeface="Times New Roman" panose="02020603050405020304" pitchFamily="18" charset="0"/>
              </a:rPr>
              <a:t>, "Accident cause analysis method based on traffic accident information system," </a:t>
            </a:r>
            <a:r>
              <a:rPr lang="en-US" sz="2400" i="1" dirty="0">
                <a:solidFill>
                  <a:schemeClr val="tx1"/>
                </a:solidFill>
                <a:latin typeface="Times New Roman" panose="02020603050405020304" pitchFamily="18" charset="0"/>
                <a:cs typeface="Times New Roman" panose="02020603050405020304" pitchFamily="18" charset="0"/>
              </a:rPr>
              <a:t>2010 International Conference on Computer Application and System Modeling (ICCASM 2010)</a:t>
            </a:r>
            <a:r>
              <a:rPr lang="en-US" sz="2400" dirty="0">
                <a:solidFill>
                  <a:schemeClr val="tx1"/>
                </a:solidFill>
                <a:latin typeface="Times New Roman" panose="02020603050405020304" pitchFamily="18" charset="0"/>
                <a:cs typeface="Times New Roman" panose="02020603050405020304" pitchFamily="18" charset="0"/>
              </a:rPr>
              <a:t>, Taiyuan, 2010, pp. V13-230-V13-233, </a:t>
            </a:r>
            <a:r>
              <a:rPr lang="en-US" sz="2400" dirty="0" err="1">
                <a:solidFill>
                  <a:schemeClr val="tx1"/>
                </a:solidFill>
                <a:latin typeface="Times New Roman" panose="02020603050405020304" pitchFamily="18" charset="0"/>
                <a:cs typeface="Times New Roman" panose="02020603050405020304" pitchFamily="18" charset="0"/>
              </a:rPr>
              <a:t>doi</a:t>
            </a:r>
            <a:r>
              <a:rPr lang="en-US" sz="2400" dirty="0">
                <a:solidFill>
                  <a:schemeClr val="tx1"/>
                </a:solidFill>
                <a:latin typeface="Times New Roman" panose="02020603050405020304" pitchFamily="18" charset="0"/>
                <a:cs typeface="Times New Roman" panose="02020603050405020304" pitchFamily="18" charset="0"/>
              </a:rPr>
              <a:t>: 10.1109/ICCASM.2010.5622735.</a:t>
            </a:r>
            <a:endParaRPr lang="en-CA" sz="2400" dirty="0">
              <a:solidFill>
                <a:schemeClr val="tx1"/>
              </a:solidFill>
              <a:latin typeface="Times New Roman" panose="02020603050405020304" pitchFamily="18" charset="0"/>
              <a:cs typeface="Times New Roman" panose="02020603050405020304" pitchFamily="18" charset="0"/>
            </a:endParaRPr>
          </a:p>
          <a:p>
            <a:pPr marL="514350" lvl="0" indent="-514350" algn="l">
              <a:buFont typeface="+mj-lt"/>
              <a:buAutoNum type="romanLcPeriod"/>
            </a:pPr>
            <a:r>
              <a:rPr lang="en-US" sz="2400" dirty="0">
                <a:solidFill>
                  <a:schemeClr val="tx1"/>
                </a:solidFill>
                <a:latin typeface="Times New Roman" panose="02020603050405020304" pitchFamily="18" charset="0"/>
                <a:cs typeface="Times New Roman" panose="02020603050405020304" pitchFamily="18" charset="0"/>
              </a:rPr>
              <a:t>M. F. Labib, A. S. Rifat, M. M. Hossain, A. K. Das and F. </a:t>
            </a:r>
            <a:r>
              <a:rPr lang="en-US" sz="2400" dirty="0" err="1">
                <a:solidFill>
                  <a:schemeClr val="tx1"/>
                </a:solidFill>
                <a:latin typeface="Times New Roman" panose="02020603050405020304" pitchFamily="18" charset="0"/>
                <a:cs typeface="Times New Roman" panose="02020603050405020304" pitchFamily="18" charset="0"/>
              </a:rPr>
              <a:t>Nawrine</a:t>
            </a:r>
            <a:r>
              <a:rPr lang="en-US" sz="2400" dirty="0">
                <a:solidFill>
                  <a:schemeClr val="tx1"/>
                </a:solidFill>
                <a:latin typeface="Times New Roman" panose="02020603050405020304" pitchFamily="18" charset="0"/>
                <a:cs typeface="Times New Roman" panose="02020603050405020304" pitchFamily="18" charset="0"/>
              </a:rPr>
              <a:t>, "Road Accident Analysis and Prediction of Accident Severity by Using Machine Learning in Bangladesh," </a:t>
            </a:r>
            <a:r>
              <a:rPr lang="en-US" sz="2400" i="1" dirty="0">
                <a:solidFill>
                  <a:schemeClr val="tx1"/>
                </a:solidFill>
                <a:latin typeface="Times New Roman" panose="02020603050405020304" pitchFamily="18" charset="0"/>
                <a:cs typeface="Times New Roman" panose="02020603050405020304" pitchFamily="18" charset="0"/>
              </a:rPr>
              <a:t>2019 7th International Conference on Smart Computing &amp; Communications (ICSCC)</a:t>
            </a:r>
            <a:r>
              <a:rPr lang="en-US" sz="2400" dirty="0">
                <a:solidFill>
                  <a:schemeClr val="tx1"/>
                </a:solidFill>
                <a:latin typeface="Times New Roman" panose="02020603050405020304" pitchFamily="18" charset="0"/>
                <a:cs typeface="Times New Roman" panose="02020603050405020304" pitchFamily="18" charset="0"/>
              </a:rPr>
              <a:t>, Sarawak, Malaysia, 2019, pp. 1-5, </a:t>
            </a:r>
            <a:r>
              <a:rPr lang="en-US" sz="2400" dirty="0" err="1">
                <a:solidFill>
                  <a:schemeClr val="tx1"/>
                </a:solidFill>
                <a:latin typeface="Times New Roman" panose="02020603050405020304" pitchFamily="18" charset="0"/>
                <a:cs typeface="Times New Roman" panose="02020603050405020304" pitchFamily="18" charset="0"/>
              </a:rPr>
              <a:t>doi</a:t>
            </a:r>
            <a:r>
              <a:rPr lang="en-US" sz="2400" dirty="0">
                <a:solidFill>
                  <a:schemeClr val="tx1"/>
                </a:solidFill>
                <a:latin typeface="Times New Roman" panose="02020603050405020304" pitchFamily="18" charset="0"/>
                <a:cs typeface="Times New Roman" panose="02020603050405020304" pitchFamily="18" charset="0"/>
              </a:rPr>
              <a:t>: 10.1109/ICSCC.2019.8843640.</a:t>
            </a:r>
            <a:endParaRPr lang="en-CA" sz="2400" dirty="0">
              <a:solidFill>
                <a:schemeClr val="tx1"/>
              </a:solidFill>
              <a:latin typeface="Times New Roman" panose="02020603050405020304" pitchFamily="18" charset="0"/>
              <a:cs typeface="Times New Roman" panose="02020603050405020304" pitchFamily="18" charset="0"/>
            </a:endParaRPr>
          </a:p>
          <a:p>
            <a:pPr marL="514350" lvl="0" indent="-514350" algn="l">
              <a:buFont typeface="+mj-lt"/>
              <a:buAutoNum type="romanLcPeriod"/>
            </a:pPr>
            <a:r>
              <a:rPr lang="en-US" sz="2400" dirty="0">
                <a:solidFill>
                  <a:schemeClr val="tx1"/>
                </a:solidFill>
                <a:latin typeface="Times New Roman" panose="02020603050405020304" pitchFamily="18" charset="0"/>
                <a:cs typeface="Times New Roman" panose="02020603050405020304" pitchFamily="18" charset="0"/>
              </a:rPr>
              <a:t>S. Subhashini and R. Maruthi, "A Predictive Model for Road Traffic Data Analysis and Visualization to Detect Accident Zones," </a:t>
            </a:r>
            <a:r>
              <a:rPr lang="en-US" sz="2400" i="1" dirty="0">
                <a:solidFill>
                  <a:schemeClr val="tx1"/>
                </a:solidFill>
                <a:latin typeface="Times New Roman" panose="02020603050405020304" pitchFamily="18" charset="0"/>
                <a:cs typeface="Times New Roman" panose="02020603050405020304" pitchFamily="18" charset="0"/>
              </a:rPr>
              <a:t>2023 9th International Conference on Advanced Computing and Communication Systems (ICACCS)</a:t>
            </a:r>
            <a:r>
              <a:rPr lang="en-US" sz="2400" dirty="0">
                <a:solidFill>
                  <a:schemeClr val="tx1"/>
                </a:solidFill>
                <a:latin typeface="Times New Roman" panose="02020603050405020304" pitchFamily="18" charset="0"/>
                <a:cs typeface="Times New Roman" panose="02020603050405020304" pitchFamily="18" charset="0"/>
              </a:rPr>
              <a:t>, Coimbatore, India, 2023, pp. 1227-1231, </a:t>
            </a:r>
            <a:r>
              <a:rPr lang="en-US" sz="2400" dirty="0" err="1">
                <a:solidFill>
                  <a:schemeClr val="tx1"/>
                </a:solidFill>
                <a:latin typeface="Times New Roman" panose="02020603050405020304" pitchFamily="18" charset="0"/>
                <a:cs typeface="Times New Roman" panose="02020603050405020304" pitchFamily="18" charset="0"/>
              </a:rPr>
              <a:t>doi</a:t>
            </a:r>
            <a:r>
              <a:rPr lang="en-US" sz="2400" dirty="0">
                <a:solidFill>
                  <a:schemeClr val="tx1"/>
                </a:solidFill>
                <a:latin typeface="Times New Roman" panose="02020603050405020304" pitchFamily="18" charset="0"/>
                <a:cs typeface="Times New Roman" panose="02020603050405020304" pitchFamily="18" charset="0"/>
              </a:rPr>
              <a:t>: 10.1109/ICACCS57279.2023.10112862.</a:t>
            </a:r>
            <a:endParaRPr lang="en-CA" sz="2400" dirty="0">
              <a:solidFill>
                <a:schemeClr val="tx1"/>
              </a:solidFill>
              <a:latin typeface="Times New Roman" panose="02020603050405020304" pitchFamily="18" charset="0"/>
              <a:cs typeface="Times New Roman" panose="02020603050405020304" pitchFamily="18" charset="0"/>
            </a:endParaRPr>
          </a:p>
          <a:p>
            <a:pPr marL="514350" lvl="0" indent="-514350" algn="l">
              <a:buFont typeface="+mj-lt"/>
              <a:buAutoNum type="romanLcPeriod"/>
            </a:pPr>
            <a:r>
              <a:rPr lang="en-US" sz="2400" dirty="0">
                <a:solidFill>
                  <a:schemeClr val="tx1"/>
                </a:solidFill>
                <a:latin typeface="Times New Roman" panose="02020603050405020304" pitchFamily="18" charset="0"/>
                <a:cs typeface="Times New Roman" panose="02020603050405020304" pitchFamily="18" charset="0"/>
              </a:rPr>
              <a:t>C. </a:t>
            </a:r>
            <a:r>
              <a:rPr lang="en-US" sz="2400" dirty="0" err="1">
                <a:solidFill>
                  <a:schemeClr val="tx1"/>
                </a:solidFill>
                <a:latin typeface="Times New Roman" panose="02020603050405020304" pitchFamily="18" charset="0"/>
                <a:cs typeface="Times New Roman" panose="02020603050405020304" pitchFamily="18" charset="0"/>
              </a:rPr>
              <a:t>Wenxue</a:t>
            </a:r>
            <a:r>
              <a:rPr lang="en-US" sz="2400" dirty="0">
                <a:solidFill>
                  <a:schemeClr val="tx1"/>
                </a:solidFill>
                <a:latin typeface="Times New Roman" panose="02020603050405020304" pitchFamily="18" charset="0"/>
                <a:cs typeface="Times New Roman" panose="02020603050405020304" pitchFamily="18" charset="0"/>
              </a:rPr>
              <a:t>, W. </a:t>
            </a:r>
            <a:r>
              <a:rPr lang="en-US" sz="2400" dirty="0" err="1">
                <a:solidFill>
                  <a:schemeClr val="tx1"/>
                </a:solidFill>
                <a:latin typeface="Times New Roman" panose="02020603050405020304" pitchFamily="18" charset="0"/>
                <a:cs typeface="Times New Roman" panose="02020603050405020304" pitchFamily="18" charset="0"/>
              </a:rPr>
              <a:t>Hengpeng</a:t>
            </a:r>
            <a:r>
              <a:rPr lang="en-US" sz="2400" dirty="0">
                <a:solidFill>
                  <a:schemeClr val="tx1"/>
                </a:solidFill>
                <a:latin typeface="Times New Roman" panose="02020603050405020304" pitchFamily="18" charset="0"/>
                <a:cs typeface="Times New Roman" panose="02020603050405020304" pitchFamily="18" charset="0"/>
              </a:rPr>
              <a:t>, S. </a:t>
            </a:r>
            <a:r>
              <a:rPr lang="en-US" sz="2400" dirty="0" err="1">
                <a:solidFill>
                  <a:schemeClr val="tx1"/>
                </a:solidFill>
                <a:latin typeface="Times New Roman" panose="02020603050405020304" pitchFamily="18" charset="0"/>
                <a:cs typeface="Times New Roman" panose="02020603050405020304" pitchFamily="18" charset="0"/>
              </a:rPr>
              <a:t>Shangjiang</a:t>
            </a:r>
            <a:r>
              <a:rPr lang="en-US" sz="2400" dirty="0">
                <a:solidFill>
                  <a:schemeClr val="tx1"/>
                </a:solidFill>
                <a:latin typeface="Times New Roman" panose="02020603050405020304" pitchFamily="18" charset="0"/>
                <a:cs typeface="Times New Roman" panose="02020603050405020304" pitchFamily="18" charset="0"/>
              </a:rPr>
              <a:t> and A. Lilu, "An improved hazardous material road transportation accident rate analysis model," </a:t>
            </a:r>
            <a:r>
              <a:rPr lang="en-US" sz="2400" i="1" dirty="0">
                <a:solidFill>
                  <a:schemeClr val="tx1"/>
                </a:solidFill>
                <a:latin typeface="Times New Roman" panose="02020603050405020304" pitchFamily="18" charset="0"/>
                <a:cs typeface="Times New Roman" panose="02020603050405020304" pitchFamily="18" charset="0"/>
              </a:rPr>
              <a:t>2010 International Conference on Logistics Systems and Intelligent Management (ICLSIM)</a:t>
            </a:r>
            <a:r>
              <a:rPr lang="en-US" sz="2400" dirty="0">
                <a:solidFill>
                  <a:schemeClr val="tx1"/>
                </a:solidFill>
                <a:latin typeface="Times New Roman" panose="02020603050405020304" pitchFamily="18" charset="0"/>
                <a:cs typeface="Times New Roman" panose="02020603050405020304" pitchFamily="18" charset="0"/>
              </a:rPr>
              <a:t>, Harbin, China, 2010, pp. 1081-1085, </a:t>
            </a:r>
            <a:r>
              <a:rPr lang="en-US" sz="2400" dirty="0" err="1">
                <a:solidFill>
                  <a:schemeClr val="tx1"/>
                </a:solidFill>
                <a:latin typeface="Times New Roman" panose="02020603050405020304" pitchFamily="18" charset="0"/>
                <a:cs typeface="Times New Roman" panose="02020603050405020304" pitchFamily="18" charset="0"/>
              </a:rPr>
              <a:t>doi</a:t>
            </a:r>
            <a:r>
              <a:rPr lang="en-US" sz="2400" dirty="0">
                <a:solidFill>
                  <a:schemeClr val="tx1"/>
                </a:solidFill>
                <a:latin typeface="Times New Roman" panose="02020603050405020304" pitchFamily="18" charset="0"/>
                <a:cs typeface="Times New Roman" panose="02020603050405020304" pitchFamily="18" charset="0"/>
              </a:rPr>
              <a:t>: 10.1109/ICLSIM.2010.5461123. </a:t>
            </a:r>
            <a:endParaRPr lang="en-CA" sz="2400" dirty="0">
              <a:solidFill>
                <a:schemeClr val="tx1"/>
              </a:solidFill>
              <a:latin typeface="Times New Roman" panose="02020603050405020304" pitchFamily="18" charset="0"/>
              <a:cs typeface="Times New Roman" panose="02020603050405020304" pitchFamily="18" charset="0"/>
            </a:endParaRPr>
          </a:p>
          <a:p>
            <a:pPr algn="l"/>
            <a:endParaRPr lang="en-CA"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8517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3182694" y="4305179"/>
            <a:ext cx="11922611" cy="1752841"/>
          </a:xfrm>
          <a:prstGeom prst="rect">
            <a:avLst/>
          </a:prstGeom>
        </p:spPr>
        <p:txBody>
          <a:bodyPr lIns="0" tIns="0" rIns="0" bIns="0" rtlCol="0" anchor="t">
            <a:spAutoFit/>
          </a:bodyPr>
          <a:lstStyle/>
          <a:p>
            <a:pPr algn="ctr">
              <a:lnSpc>
                <a:spcPts val="13231"/>
              </a:lnSpc>
            </a:pPr>
            <a:r>
              <a:rPr lang="en-US" sz="12028" b="1">
                <a:solidFill>
                  <a:srgbClr val="034383"/>
                </a:solidFill>
                <a:latin typeface="Ubuntu Bold"/>
                <a:ea typeface="Ubuntu Bold"/>
                <a:cs typeface="Ubuntu Bold"/>
                <a:sym typeface="Ubuntu Bold"/>
              </a:rPr>
              <a:t>THANK YOU</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310</TotalTime>
  <Words>1457</Words>
  <Application>Microsoft Office PowerPoint</Application>
  <PresentationFormat>Custom</PresentationFormat>
  <Paragraphs>124</Paragraphs>
  <Slides>27</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Arial</vt:lpstr>
      <vt:lpstr>Canva Sans Bold</vt:lpstr>
      <vt:lpstr>Open Sans</vt:lpstr>
      <vt:lpstr>Ubuntu Bold</vt:lpstr>
      <vt:lpstr>Trebuchet MS</vt:lpstr>
      <vt:lpstr>Canva Sans</vt:lpstr>
      <vt:lpstr>Wingdings 3</vt:lpstr>
      <vt:lpstr>Times New Roman</vt:lpstr>
      <vt:lpstr>Times New Roman Bold</vt:lpstr>
      <vt:lpstr>Segoe UI</vt:lpstr>
      <vt:lpstr>Open Sans Bold</vt:lpstr>
      <vt:lpstr>Facet</vt:lpstr>
      <vt:lpstr>PowerPoint Presentation</vt:lpstr>
      <vt:lpstr>STRUCTURE OF PRESENTATION</vt:lpstr>
      <vt:lpstr>PowerPoint Presentation</vt:lpstr>
      <vt:lpstr>PowerPoint Presentation</vt:lpstr>
      <vt:lpstr>RESEARCH GAP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AND DISCUSSIONS</vt:lpstr>
      <vt:lpstr>PowerPoint Presentation</vt:lpstr>
      <vt:lpstr>PowerPoint Presentation</vt:lpstr>
      <vt:lpstr>PowerPoint Presentation</vt:lpstr>
      <vt:lpstr>PowerPoint Presentation</vt:lpstr>
      <vt:lpstr>PowerPoint Presentation</vt:lpstr>
      <vt:lpstr>DASHBOARD</vt:lpstr>
      <vt:lpstr>PowerPoint Presentation</vt:lpstr>
      <vt:lpstr>PowerPoint Presentation</vt:lpstr>
      <vt:lpstr>PowerPoint Presentation</vt:lpstr>
      <vt:lpstr>PowerPoint Presentation</vt:lpstr>
      <vt:lpstr>Future Work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Yellow Modern Geometric Business Proposal Presentation</dc:title>
  <cp:lastModifiedBy>Uzma Athar Shaikh</cp:lastModifiedBy>
  <cp:revision>11</cp:revision>
  <dcterms:created xsi:type="dcterms:W3CDTF">2006-08-16T00:00:00Z</dcterms:created>
  <dcterms:modified xsi:type="dcterms:W3CDTF">2025-10-17T04:27:05Z</dcterms:modified>
  <dc:identifier>DAGfdv_9t5o</dc:identifier>
</cp:coreProperties>
</file>